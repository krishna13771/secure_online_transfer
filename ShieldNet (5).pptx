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2691" y="3305517"/>
            <a:ext cx="10591799" cy="5238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55201"/>
            <a:ext cx="5979159" cy="13139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1634" y="2693804"/>
            <a:ext cx="8896985" cy="5913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4335" y="3455864"/>
            <a:ext cx="12344399" cy="43814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909138" y="5403880"/>
            <a:ext cx="1914525" cy="66675"/>
          </a:xfrm>
          <a:custGeom>
            <a:avLst/>
            <a:gdLst/>
            <a:ahLst/>
            <a:cxnLst/>
            <a:rect l="l" t="t" r="r" b="b"/>
            <a:pathLst>
              <a:path w="1914525" h="66675">
                <a:moveTo>
                  <a:pt x="1913929" y="66674"/>
                </a:moveTo>
                <a:lnTo>
                  <a:pt x="0" y="66674"/>
                </a:lnTo>
                <a:lnTo>
                  <a:pt x="0" y="0"/>
                </a:lnTo>
                <a:lnTo>
                  <a:pt x="1913929" y="0"/>
                </a:lnTo>
                <a:lnTo>
                  <a:pt x="1913929" y="66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402158" y="5403880"/>
            <a:ext cx="5713095" cy="66675"/>
          </a:xfrm>
          <a:custGeom>
            <a:avLst/>
            <a:gdLst/>
            <a:ahLst/>
            <a:cxnLst/>
            <a:rect l="l" t="t" r="r" b="b"/>
            <a:pathLst>
              <a:path w="5713095" h="66675">
                <a:moveTo>
                  <a:pt x="5712767" y="66674"/>
                </a:moveTo>
                <a:lnTo>
                  <a:pt x="0" y="66674"/>
                </a:lnTo>
                <a:lnTo>
                  <a:pt x="0" y="0"/>
                </a:lnTo>
                <a:lnTo>
                  <a:pt x="5712767" y="0"/>
                </a:lnTo>
                <a:lnTo>
                  <a:pt x="5712767" y="66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96438" y="1953931"/>
            <a:ext cx="12854305" cy="4364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642610" marR="5080" indent="-1989455">
              <a:lnSpc>
                <a:spcPct val="116399"/>
              </a:lnSpc>
              <a:spcBef>
                <a:spcPts val="95"/>
              </a:spcBef>
            </a:pPr>
            <a:r>
              <a:rPr dirty="0" sz="4550" spc="-325" b="1">
                <a:solidFill>
                  <a:srgbClr val="FFFFFF"/>
                </a:solidFill>
                <a:latin typeface="Arial"/>
                <a:cs typeface="Arial"/>
              </a:rPr>
              <a:t>SECURE</a:t>
            </a:r>
            <a:r>
              <a:rPr dirty="0" sz="4550" spc="-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50" spc="-200" b="1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dirty="0" sz="4550" spc="-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50" spc="-60" b="1">
                <a:solidFill>
                  <a:srgbClr val="FFFFFF"/>
                </a:solidFill>
                <a:latin typeface="Arial"/>
                <a:cs typeface="Arial"/>
              </a:rPr>
              <a:t>WEB-</a:t>
            </a:r>
            <a:r>
              <a:rPr dirty="0" sz="4550" spc="-355" b="1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4550" spc="-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50" spc="-60" b="1">
                <a:solidFill>
                  <a:srgbClr val="FFFFFF"/>
                </a:solidFill>
                <a:latin typeface="Arial"/>
                <a:cs typeface="Arial"/>
              </a:rPr>
              <a:t>FILE </a:t>
            </a:r>
            <a:r>
              <a:rPr dirty="0" sz="4550" spc="-300" b="1">
                <a:solidFill>
                  <a:srgbClr val="FFFFFF"/>
                </a:solidFill>
                <a:latin typeface="Arial"/>
                <a:cs typeface="Arial"/>
              </a:rPr>
              <a:t>TRANSFER</a:t>
            </a:r>
            <a:r>
              <a:rPr dirty="0" sz="4550" spc="-1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50" spc="-55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4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75"/>
              </a:spcBef>
            </a:pPr>
            <a:endParaRPr sz="4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650" spc="130" b="1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dirty="0" sz="565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650" spc="-355" b="1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dirty="0" sz="565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650" spc="-10" b="1">
                <a:solidFill>
                  <a:srgbClr val="FFFFFF"/>
                </a:solidFill>
                <a:latin typeface="Trebuchet MS"/>
                <a:cs typeface="Trebuchet MS"/>
              </a:rPr>
              <a:t>CYBERWARRIORS</a:t>
            </a:r>
            <a:endParaRPr sz="5650">
              <a:latin typeface="Trebuchet MS"/>
              <a:cs typeface="Trebuchet MS"/>
            </a:endParaRPr>
          </a:p>
          <a:p>
            <a:pPr marL="296545">
              <a:lnSpc>
                <a:spcPct val="100000"/>
              </a:lnSpc>
              <a:spcBef>
                <a:spcPts val="1885"/>
              </a:spcBef>
            </a:pPr>
            <a:r>
              <a:rPr dirty="0" u="heavy" sz="3650" spc="-1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Team</a:t>
            </a:r>
            <a:r>
              <a:rPr dirty="0" u="heavy" sz="3650" spc="-16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650" spc="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Members: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80331" y="6782472"/>
            <a:ext cx="6386195" cy="267906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455"/>
              </a:spcBef>
            </a:pPr>
            <a:r>
              <a:rPr dirty="0" sz="3650" spc="75" b="1">
                <a:solidFill>
                  <a:srgbClr val="FFFFFF"/>
                </a:solidFill>
                <a:latin typeface="Trebuchet MS"/>
                <a:cs typeface="Trebuchet MS"/>
              </a:rPr>
              <a:t>Vishal</a:t>
            </a:r>
            <a:r>
              <a:rPr dirty="0" sz="365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50" spc="-20" b="1">
                <a:solidFill>
                  <a:srgbClr val="FFFFFF"/>
                </a:solidFill>
                <a:latin typeface="Trebuchet MS"/>
                <a:cs typeface="Trebuchet MS"/>
              </a:rPr>
              <a:t>Prajapati(team</a:t>
            </a:r>
            <a:r>
              <a:rPr dirty="0" sz="365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50" spc="-10" b="1">
                <a:solidFill>
                  <a:srgbClr val="FFFFFF"/>
                </a:solidFill>
                <a:latin typeface="Trebuchet MS"/>
                <a:cs typeface="Trebuchet MS"/>
              </a:rPr>
              <a:t>leader) </a:t>
            </a:r>
            <a:r>
              <a:rPr dirty="0" sz="3650" spc="45" b="1">
                <a:solidFill>
                  <a:srgbClr val="FFFFFF"/>
                </a:solidFill>
                <a:latin typeface="Trebuchet MS"/>
                <a:cs typeface="Trebuchet MS"/>
              </a:rPr>
              <a:t>Shubham</a:t>
            </a:r>
            <a:r>
              <a:rPr dirty="0" sz="365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50" spc="-10" b="1">
                <a:solidFill>
                  <a:srgbClr val="FFFFFF"/>
                </a:solidFill>
                <a:latin typeface="Trebuchet MS"/>
                <a:cs typeface="Trebuchet MS"/>
              </a:rPr>
              <a:t>Kumar</a:t>
            </a:r>
            <a:endParaRPr sz="3650">
              <a:latin typeface="Trebuchet MS"/>
              <a:cs typeface="Trebuchet MS"/>
            </a:endParaRPr>
          </a:p>
          <a:p>
            <a:pPr marL="12700">
              <a:lnSpc>
                <a:spcPts val="3895"/>
              </a:lnSpc>
            </a:pPr>
            <a:r>
              <a:rPr dirty="0" sz="3650" b="1">
                <a:solidFill>
                  <a:srgbClr val="FFFFFF"/>
                </a:solidFill>
                <a:latin typeface="Trebuchet MS"/>
                <a:cs typeface="Trebuchet MS"/>
              </a:rPr>
              <a:t>Krishna</a:t>
            </a:r>
            <a:r>
              <a:rPr dirty="0" sz="365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50" spc="-20" b="1">
                <a:solidFill>
                  <a:srgbClr val="FFFFFF"/>
                </a:solidFill>
                <a:latin typeface="Trebuchet MS"/>
                <a:cs typeface="Trebuchet MS"/>
              </a:rPr>
              <a:t>Kumar</a:t>
            </a:r>
            <a:endParaRPr sz="3650">
              <a:latin typeface="Trebuchet MS"/>
              <a:cs typeface="Trebuchet MS"/>
            </a:endParaRPr>
          </a:p>
          <a:p>
            <a:pPr marL="12700" marR="3364865">
              <a:lnSpc>
                <a:spcPts val="4130"/>
              </a:lnSpc>
              <a:spcBef>
                <a:spcPts val="219"/>
              </a:spcBef>
            </a:pPr>
            <a:r>
              <a:rPr dirty="0" sz="3650" spc="75" b="1">
                <a:solidFill>
                  <a:srgbClr val="FFFFFF"/>
                </a:solidFill>
                <a:latin typeface="Trebuchet MS"/>
                <a:cs typeface="Trebuchet MS"/>
              </a:rPr>
              <a:t>Suman</a:t>
            </a:r>
            <a:r>
              <a:rPr dirty="0" sz="365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50" spc="-20" b="1">
                <a:solidFill>
                  <a:srgbClr val="FFFFFF"/>
                </a:solidFill>
                <a:latin typeface="Trebuchet MS"/>
                <a:cs typeface="Trebuchet MS"/>
              </a:rPr>
              <a:t>Verma </a:t>
            </a:r>
            <a:r>
              <a:rPr dirty="0" sz="3650" spc="-120" b="1">
                <a:solidFill>
                  <a:srgbClr val="FFFFFF"/>
                </a:solidFill>
                <a:latin typeface="Trebuchet MS"/>
                <a:cs typeface="Trebuchet MS"/>
              </a:rPr>
              <a:t>Yuvraj</a:t>
            </a:r>
            <a:r>
              <a:rPr dirty="0" sz="365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50" spc="-20" b="1">
                <a:solidFill>
                  <a:srgbClr val="FFFFFF"/>
                </a:solidFill>
                <a:latin typeface="Trebuchet MS"/>
                <a:cs typeface="Trebuchet MS"/>
              </a:rPr>
              <a:t>Patel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221346" y="7894528"/>
            <a:ext cx="7389495" cy="135001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861820" marR="5080" indent="-1849755">
              <a:lnSpc>
                <a:spcPts val="5040"/>
              </a:lnSpc>
              <a:spcBef>
                <a:spcPts val="545"/>
              </a:spcBef>
            </a:pPr>
            <a:r>
              <a:rPr dirty="0" sz="4450" spc="-30" b="1">
                <a:solidFill>
                  <a:srgbClr val="FFFFFF"/>
                </a:solidFill>
                <a:latin typeface="Trebuchet MS"/>
                <a:cs typeface="Trebuchet MS"/>
              </a:rPr>
              <a:t>Department</a:t>
            </a:r>
            <a:r>
              <a:rPr dirty="0" sz="445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50" b="1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445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50" spc="120" b="1">
                <a:solidFill>
                  <a:srgbClr val="FFFFFF"/>
                </a:solidFill>
                <a:latin typeface="Trebuchet MS"/>
                <a:cs typeface="Trebuchet MS"/>
              </a:rPr>
              <a:t>CSE(AI</a:t>
            </a:r>
            <a:r>
              <a:rPr dirty="0" sz="445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50" spc="-165" b="1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445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50" spc="-25" b="1">
                <a:solidFill>
                  <a:srgbClr val="FFFFFF"/>
                </a:solidFill>
                <a:latin typeface="Trebuchet MS"/>
                <a:cs typeface="Trebuchet MS"/>
              </a:rPr>
              <a:t>ML) </a:t>
            </a:r>
            <a:r>
              <a:rPr dirty="0" sz="4450" spc="-60" b="1">
                <a:solidFill>
                  <a:srgbClr val="FFFFFF"/>
                </a:solidFill>
                <a:latin typeface="Trebuchet MS"/>
                <a:cs typeface="Trebuchet MS"/>
              </a:rPr>
              <a:t>Innotech</a:t>
            </a:r>
            <a:r>
              <a:rPr dirty="0" sz="4450" spc="-2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50" spc="-20" b="1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44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93479" y="969939"/>
            <a:ext cx="3263265" cy="81724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 spc="-110"/>
              <a:t>SHIELDNET</a:t>
            </a:r>
            <a:endParaRPr sz="5200"/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2833" y="1635711"/>
            <a:ext cx="8915399" cy="3143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773540"/>
            <a:ext cx="9937441" cy="3714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955201"/>
            <a:ext cx="5979160" cy="10369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600" spc="-10"/>
              <a:t>INTRODUCTION</a:t>
            </a:r>
            <a:endParaRPr sz="6600"/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206" y="2378107"/>
            <a:ext cx="161925" cy="1619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206" y="3844957"/>
            <a:ext cx="161925" cy="1619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206" y="5311807"/>
            <a:ext cx="161925" cy="1619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206" y="6778657"/>
            <a:ext cx="161925" cy="1619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40637" y="1974996"/>
            <a:ext cx="14218285" cy="5159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116330">
              <a:lnSpc>
                <a:spcPct val="117400"/>
              </a:lnSpc>
              <a:spcBef>
                <a:spcPts val="90"/>
              </a:spcBef>
            </a:pP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File</a:t>
            </a:r>
            <a:r>
              <a:rPr dirty="0" sz="41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60">
                <a:solidFill>
                  <a:srgbClr val="FFFFFF"/>
                </a:solidFill>
                <a:latin typeface="Arial MT"/>
                <a:cs typeface="Arial MT"/>
              </a:rPr>
              <a:t>sharing</a:t>
            </a:r>
            <a:r>
              <a:rPr dirty="0" sz="4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114">
                <a:solidFill>
                  <a:srgbClr val="FFFFFF"/>
                </a:solidFill>
                <a:latin typeface="Arial MT"/>
                <a:cs typeface="Arial MT"/>
              </a:rPr>
              <a:t>apps</a:t>
            </a:r>
            <a:r>
              <a:rPr dirty="0" sz="4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often</a:t>
            </a:r>
            <a:r>
              <a:rPr dirty="0" sz="4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45">
                <a:solidFill>
                  <a:srgbClr val="FFFFFF"/>
                </a:solidFill>
                <a:latin typeface="Arial MT"/>
                <a:cs typeface="Arial MT"/>
              </a:rPr>
              <a:t>depend</a:t>
            </a:r>
            <a:r>
              <a:rPr dirty="0" sz="4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4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internet,</a:t>
            </a:r>
            <a:r>
              <a:rPr dirty="0" sz="4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110">
                <a:solidFill>
                  <a:srgbClr val="FFFFFF"/>
                </a:solidFill>
                <a:latin typeface="Arial MT"/>
                <a:cs typeface="Arial MT"/>
              </a:rPr>
              <a:t>causing</a:t>
            </a:r>
            <a:r>
              <a:rPr dirty="0" sz="41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Arial MT"/>
                <a:cs typeface="Arial MT"/>
              </a:rPr>
              <a:t>delay, </a:t>
            </a:r>
            <a:r>
              <a:rPr dirty="0" sz="4100" spc="-40">
                <a:solidFill>
                  <a:srgbClr val="FFFFFF"/>
                </a:solidFill>
                <a:latin typeface="Arial MT"/>
                <a:cs typeface="Arial MT"/>
              </a:rPr>
              <a:t>compression,</a:t>
            </a:r>
            <a:r>
              <a:rPr dirty="0" sz="4100" spc="-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4100" spc="-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Arial MT"/>
                <a:cs typeface="Arial MT"/>
              </a:rPr>
              <a:t>privacy</a:t>
            </a:r>
            <a:r>
              <a:rPr dirty="0" sz="4100" spc="-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Arial MT"/>
                <a:cs typeface="Arial MT"/>
              </a:rPr>
              <a:t>risk.</a:t>
            </a:r>
            <a:endParaRPr sz="4100">
              <a:latin typeface="Arial MT"/>
              <a:cs typeface="Arial MT"/>
            </a:endParaRPr>
          </a:p>
          <a:p>
            <a:pPr marL="12700" marR="5080">
              <a:lnSpc>
                <a:spcPts val="5780"/>
              </a:lnSpc>
              <a:spcBef>
                <a:spcPts val="334"/>
              </a:spcBef>
            </a:pPr>
            <a:r>
              <a:rPr dirty="0" sz="4100" spc="-60">
                <a:solidFill>
                  <a:srgbClr val="FFFFFF"/>
                </a:solidFill>
                <a:latin typeface="Arial MT"/>
                <a:cs typeface="Arial MT"/>
              </a:rPr>
              <a:t>ShieldNet</a:t>
            </a:r>
            <a:r>
              <a:rPr dirty="0" sz="41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30">
                <a:solidFill>
                  <a:srgbClr val="FFFFFF"/>
                </a:solidFill>
                <a:latin typeface="Arial MT"/>
                <a:cs typeface="Arial MT"/>
              </a:rPr>
              <a:t>provides</a:t>
            </a:r>
            <a:r>
              <a:rPr dirty="0" sz="4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4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hybrid</a:t>
            </a:r>
            <a:r>
              <a:rPr dirty="0" sz="4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r>
              <a:rPr dirty="0" sz="4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4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works</a:t>
            </a:r>
            <a:r>
              <a:rPr dirty="0" sz="4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both</a:t>
            </a:r>
            <a:r>
              <a:rPr dirty="0" sz="41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50">
                <a:solidFill>
                  <a:srgbClr val="FFFFFF"/>
                </a:solidFill>
                <a:latin typeface="Arial MT"/>
                <a:cs typeface="Arial MT"/>
              </a:rPr>
              <a:t>offline</a:t>
            </a:r>
            <a:r>
              <a:rPr dirty="0" sz="41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60">
                <a:solidFill>
                  <a:srgbClr val="FFFFFF"/>
                </a:solidFill>
                <a:latin typeface="Arial MT"/>
                <a:cs typeface="Arial MT"/>
              </a:rPr>
              <a:t>(LAN) </a:t>
            </a:r>
            <a:r>
              <a:rPr dirty="0" sz="41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41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online</a:t>
            </a:r>
            <a:r>
              <a:rPr dirty="0" sz="41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Arial MT"/>
                <a:cs typeface="Arial MT"/>
              </a:rPr>
              <a:t>(Web).</a:t>
            </a:r>
            <a:endParaRPr sz="4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4100" spc="-30">
                <a:solidFill>
                  <a:srgbClr val="FFFFFF"/>
                </a:solidFill>
                <a:latin typeface="Arial MT"/>
                <a:cs typeface="Arial MT"/>
              </a:rPr>
              <a:t>Browser-</a:t>
            </a:r>
            <a:r>
              <a:rPr dirty="0" sz="4100" spc="-90">
                <a:solidFill>
                  <a:srgbClr val="FFFFFF"/>
                </a:solidFill>
                <a:latin typeface="Arial MT"/>
                <a:cs typeface="Arial MT"/>
              </a:rPr>
              <a:t>based,</a:t>
            </a:r>
            <a:r>
              <a:rPr dirty="0" sz="4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dirty="0" sz="41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installation,</a:t>
            </a:r>
            <a:r>
              <a:rPr dirty="0" sz="41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dirty="0" sz="41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4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r>
              <a:rPr dirty="0" sz="41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85">
                <a:solidFill>
                  <a:srgbClr val="FFFFFF"/>
                </a:solidFill>
                <a:latin typeface="Arial MT"/>
                <a:cs typeface="Arial MT"/>
              </a:rPr>
              <a:t>dependency</a:t>
            </a:r>
            <a:r>
              <a:rPr dirty="0" sz="41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14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41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Arial MT"/>
                <a:cs typeface="Arial MT"/>
              </a:rPr>
              <a:t>LAN</a:t>
            </a:r>
            <a:endParaRPr sz="4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4100" spc="-10">
                <a:solidFill>
                  <a:srgbClr val="FFFFFF"/>
                </a:solidFill>
                <a:latin typeface="Arial MT"/>
                <a:cs typeface="Arial MT"/>
              </a:rPr>
              <a:t>mode.</a:t>
            </a:r>
            <a:endParaRPr sz="4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4100" spc="-125">
                <a:solidFill>
                  <a:srgbClr val="FFFFFF"/>
                </a:solidFill>
                <a:latin typeface="Arial MT"/>
                <a:cs typeface="Arial MT"/>
              </a:rPr>
              <a:t>Designed</a:t>
            </a:r>
            <a:r>
              <a:rPr dirty="0" sz="41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14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4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85">
                <a:solidFill>
                  <a:srgbClr val="FFFFFF"/>
                </a:solidFill>
                <a:latin typeface="Arial MT"/>
                <a:cs typeface="Arial MT"/>
              </a:rPr>
              <a:t>speed,</a:t>
            </a:r>
            <a:r>
              <a:rPr dirty="0" sz="41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security,</a:t>
            </a:r>
            <a:r>
              <a:rPr dirty="0" sz="4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41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simplicity</a:t>
            </a:r>
            <a:r>
              <a:rPr dirty="0" sz="4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41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dirty="0" sz="41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Arial MT"/>
                <a:cs typeface="Arial MT"/>
              </a:rPr>
              <a:t>system.</a:t>
            </a:r>
            <a:endParaRPr sz="4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44770"/>
            <a:ext cx="8229559" cy="4000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6736" y="1127275"/>
            <a:ext cx="4592320" cy="995044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350" spc="-10"/>
              <a:t>OBJECTIVES</a:t>
            </a:r>
            <a:endParaRPr sz="6350"/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598" y="2615528"/>
            <a:ext cx="190069" cy="19006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598" y="3489848"/>
            <a:ext cx="190069" cy="19006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598" y="4364169"/>
            <a:ext cx="190069" cy="19006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598" y="5238489"/>
            <a:ext cx="190069" cy="19006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598" y="6112810"/>
            <a:ext cx="190069" cy="19006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400331" y="2145242"/>
            <a:ext cx="13253719" cy="4397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0"/>
              </a:spcBef>
            </a:pPr>
            <a:r>
              <a:rPr dirty="0" sz="4900" spc="-90">
                <a:solidFill>
                  <a:srgbClr val="FFFFFF"/>
                </a:solidFill>
                <a:latin typeface="Arial MT"/>
                <a:cs typeface="Arial MT"/>
              </a:rPr>
              <a:t>Develop</a:t>
            </a:r>
            <a:r>
              <a:rPr dirty="0" sz="490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275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49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110">
                <a:solidFill>
                  <a:srgbClr val="FFFFFF"/>
                </a:solidFill>
                <a:latin typeface="Arial MT"/>
                <a:cs typeface="Arial MT"/>
              </a:rPr>
              <a:t>secure </a:t>
            </a:r>
            <a:r>
              <a:rPr dirty="0" sz="4900" spc="-4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49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hybrid</a:t>
            </a:r>
            <a:r>
              <a:rPr dirty="0" sz="4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55">
                <a:solidFill>
                  <a:srgbClr val="FFFFFF"/>
                </a:solidFill>
                <a:latin typeface="Arial MT"/>
                <a:cs typeface="Arial MT"/>
              </a:rPr>
              <a:t>file</a:t>
            </a:r>
            <a:r>
              <a:rPr dirty="0" sz="49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transfer</a:t>
            </a:r>
            <a:r>
              <a:rPr dirty="0" sz="49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10">
                <a:solidFill>
                  <a:srgbClr val="FFFFFF"/>
                </a:solidFill>
                <a:latin typeface="Arial MT"/>
                <a:cs typeface="Arial MT"/>
              </a:rPr>
              <a:t>system.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Allow</a:t>
            </a:r>
            <a:r>
              <a:rPr dirty="0" sz="4900" spc="-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50">
                <a:solidFill>
                  <a:srgbClr val="FFFFFF"/>
                </a:solidFill>
                <a:latin typeface="Arial MT"/>
                <a:cs typeface="Arial MT"/>
              </a:rPr>
              <a:t>manual</a:t>
            </a:r>
            <a:r>
              <a:rPr dirty="0" sz="4900" spc="-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25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r>
              <a:rPr dirty="0" sz="490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50">
                <a:solidFill>
                  <a:srgbClr val="FFFFFF"/>
                </a:solidFill>
                <a:latin typeface="Arial MT"/>
                <a:cs typeface="Arial MT"/>
              </a:rPr>
              <a:t>selection</a:t>
            </a:r>
            <a:r>
              <a:rPr dirty="0" sz="4900" spc="-190">
                <a:solidFill>
                  <a:srgbClr val="FFFFFF"/>
                </a:solidFill>
                <a:latin typeface="Arial MT"/>
                <a:cs typeface="Arial MT"/>
              </a:rPr>
              <a:t> (LAN</a:t>
            </a:r>
            <a:r>
              <a:rPr dirty="0" sz="490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855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4900" spc="-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10">
                <a:solidFill>
                  <a:srgbClr val="FFFFFF"/>
                </a:solidFill>
                <a:latin typeface="Arial MT"/>
                <a:cs typeface="Arial MT"/>
              </a:rPr>
              <a:t>Web).</a:t>
            </a:r>
            <a:endParaRPr sz="4900">
              <a:latin typeface="Arial MT"/>
              <a:cs typeface="Arial MT"/>
            </a:endParaRPr>
          </a:p>
          <a:p>
            <a:pPr marL="12700" marR="100330">
              <a:lnSpc>
                <a:spcPts val="6880"/>
              </a:lnSpc>
              <a:spcBef>
                <a:spcPts val="200"/>
              </a:spcBef>
            </a:pPr>
            <a:r>
              <a:rPr dirty="0" sz="4900" spc="-8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dirty="0" sz="49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125">
                <a:solidFill>
                  <a:srgbClr val="FFFFFF"/>
                </a:solidFill>
                <a:latin typeface="Arial MT"/>
                <a:cs typeface="Arial MT"/>
              </a:rPr>
              <a:t>multi-</a:t>
            </a:r>
            <a:r>
              <a:rPr dirty="0" sz="4900" spc="-5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dirty="0" sz="49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parallel</a:t>
            </a:r>
            <a:r>
              <a:rPr dirty="0" sz="4900" spc="-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transfer</a:t>
            </a:r>
            <a:r>
              <a:rPr dirty="0" sz="49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10">
                <a:solidFill>
                  <a:srgbClr val="FFFFFF"/>
                </a:solidFill>
                <a:latin typeface="Arial MT"/>
                <a:cs typeface="Arial MT"/>
              </a:rPr>
              <a:t>support.</a:t>
            </a:r>
            <a:r>
              <a:rPr dirty="0" sz="4900" spc="1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Add</a:t>
            </a:r>
            <a:r>
              <a:rPr dirty="0" sz="490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254">
                <a:solidFill>
                  <a:srgbClr val="FFFFFF"/>
                </a:solidFill>
                <a:latin typeface="Arial MT"/>
                <a:cs typeface="Arial MT"/>
              </a:rPr>
              <a:t>OTP</a:t>
            </a:r>
            <a:r>
              <a:rPr dirty="0" sz="49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855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49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20">
                <a:solidFill>
                  <a:srgbClr val="FFFFFF"/>
                </a:solidFill>
                <a:latin typeface="Arial MT"/>
                <a:cs typeface="Arial MT"/>
              </a:rPr>
              <a:t>Token</a:t>
            </a:r>
            <a:r>
              <a:rPr dirty="0" sz="49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r>
              <a:rPr dirty="0" sz="49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15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49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10">
                <a:solidFill>
                  <a:srgbClr val="FFFFFF"/>
                </a:solidFill>
                <a:latin typeface="Arial MT"/>
                <a:cs typeface="Arial MT"/>
              </a:rPr>
              <a:t>authentication. </a:t>
            </a:r>
            <a:r>
              <a:rPr dirty="0" sz="4900" spc="-105">
                <a:solidFill>
                  <a:srgbClr val="FFFFFF"/>
                </a:solidFill>
                <a:latin typeface="Arial MT"/>
                <a:cs typeface="Arial MT"/>
              </a:rPr>
              <a:t>Ensure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auto</a:t>
            </a:r>
            <a:r>
              <a:rPr dirty="0" sz="4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55">
                <a:solidFill>
                  <a:srgbClr val="FFFFFF"/>
                </a:solidFill>
                <a:latin typeface="Arial MT"/>
                <a:cs typeface="Arial MT"/>
              </a:rPr>
              <a:t>file</a:t>
            </a:r>
            <a:r>
              <a:rPr dirty="0" sz="4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70">
                <a:solidFill>
                  <a:srgbClr val="FFFFFF"/>
                </a:solidFill>
                <a:latin typeface="Arial MT"/>
                <a:cs typeface="Arial MT"/>
              </a:rPr>
              <a:t>cleanup</a:t>
            </a:r>
            <a:r>
              <a:rPr dirty="0" sz="49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>
                <a:solidFill>
                  <a:srgbClr val="FFFFFF"/>
                </a:solidFill>
                <a:latin typeface="Arial MT"/>
                <a:cs typeface="Arial MT"/>
              </a:rPr>
              <a:t>after</a:t>
            </a:r>
            <a:r>
              <a:rPr dirty="0" sz="4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900" spc="-10">
                <a:solidFill>
                  <a:srgbClr val="FFFFFF"/>
                </a:solidFill>
                <a:latin typeface="Arial MT"/>
                <a:cs typeface="Arial MT"/>
              </a:rPr>
              <a:t>transfer.</a:t>
            </a:r>
            <a:endParaRPr sz="4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383113"/>
            <a:ext cx="8244840" cy="9118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800" spc="310"/>
              <a:t>SYSTEM</a:t>
            </a:r>
            <a:r>
              <a:rPr dirty="0" sz="5800" spc="-270"/>
              <a:t> </a:t>
            </a:r>
            <a:r>
              <a:rPr dirty="0" sz="5800" spc="-30"/>
              <a:t>ARCHITECTURE</a:t>
            </a:r>
            <a:endParaRPr sz="58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4966" y="10195390"/>
            <a:ext cx="5305424" cy="916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287" y="1166800"/>
            <a:ext cx="9182099" cy="447674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9724945" y="3001048"/>
            <a:ext cx="7534275" cy="5124450"/>
            <a:chOff x="9724945" y="3001048"/>
            <a:chExt cx="7534275" cy="512445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4945" y="3001048"/>
              <a:ext cx="7534274" cy="512445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3281" y="4239253"/>
              <a:ext cx="142874" cy="1428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3281" y="5753728"/>
              <a:ext cx="142874" cy="1428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3281" y="7268203"/>
              <a:ext cx="142874" cy="142874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579043" y="1731641"/>
            <a:ext cx="8564880" cy="6614159"/>
            <a:chOff x="579043" y="1731641"/>
            <a:chExt cx="8564880" cy="6614159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043" y="1731641"/>
              <a:ext cx="5305424" cy="12668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027" y="2783035"/>
              <a:ext cx="8343899" cy="556259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5410" y="3881141"/>
              <a:ext cx="142874" cy="1428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5410" y="4890791"/>
              <a:ext cx="142874" cy="1428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5410" y="5900441"/>
              <a:ext cx="142874" cy="14287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5410" y="7414916"/>
              <a:ext cx="142874" cy="142874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036669" y="1670155"/>
            <a:ext cx="8262620" cy="6571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10"/>
              </a:spcBef>
            </a:pPr>
            <a:r>
              <a:rPr dirty="0" sz="6450" spc="-74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6450" spc="-114" b="1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6450" spc="-11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6450" spc="-3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450" b="1">
                <a:solidFill>
                  <a:srgbClr val="FFFFFF"/>
                </a:solidFill>
                <a:latin typeface="Trebuchet MS"/>
                <a:cs typeface="Trebuchet MS"/>
              </a:rPr>
              <a:t>working</a:t>
            </a:r>
            <a:r>
              <a:rPr dirty="0" sz="6450" spc="-4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450" spc="-10" b="1">
                <a:solidFill>
                  <a:srgbClr val="FFFFFF"/>
                </a:solidFill>
                <a:latin typeface="Trebuchet MS"/>
                <a:cs typeface="Trebuchet MS"/>
              </a:rPr>
              <a:t>modes:</a:t>
            </a:r>
            <a:endParaRPr sz="6450">
              <a:latin typeface="Trebuchet MS"/>
              <a:cs typeface="Trebuchet MS"/>
            </a:endParaRPr>
          </a:p>
          <a:p>
            <a:pPr marL="12700">
              <a:lnSpc>
                <a:spcPts val="4705"/>
              </a:lnSpc>
              <a:spcBef>
                <a:spcPts val="311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🔵</a:t>
            </a:r>
            <a:r>
              <a:rPr dirty="0" sz="395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spc="75" b="1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35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85" b="1">
                <a:solidFill>
                  <a:srgbClr val="FFFFFF"/>
                </a:solidFill>
                <a:latin typeface="Trebuchet MS"/>
                <a:cs typeface="Trebuchet MS"/>
              </a:rPr>
              <a:t>Mode</a:t>
            </a:r>
            <a:r>
              <a:rPr dirty="0" sz="35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(Online)</a:t>
            </a:r>
            <a:endParaRPr sz="3500">
              <a:latin typeface="Trebuchet MS"/>
              <a:cs typeface="Trebuchet MS"/>
            </a:endParaRPr>
          </a:p>
          <a:p>
            <a:pPr marL="523240">
              <a:lnSpc>
                <a:spcPts val="4165"/>
              </a:lnSpc>
            </a:pP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Works</a:t>
            </a:r>
            <a:r>
              <a:rPr dirty="0" sz="35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40" b="1">
                <a:solidFill>
                  <a:srgbClr val="FFFFFF"/>
                </a:solidFill>
                <a:latin typeface="Trebuchet MS"/>
                <a:cs typeface="Trebuchet MS"/>
              </a:rPr>
              <a:t>across</a:t>
            </a:r>
            <a:r>
              <a:rPr dirty="0" sz="35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45" b="1">
                <a:solidFill>
                  <a:srgbClr val="FFFFFF"/>
                </a:solidFill>
                <a:latin typeface="Trebuchet MS"/>
                <a:cs typeface="Trebuchet MS"/>
              </a:rPr>
              <a:t>different</a:t>
            </a:r>
            <a:r>
              <a:rPr dirty="0" sz="35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networks.</a:t>
            </a:r>
            <a:endParaRPr sz="3500">
              <a:latin typeface="Trebuchet MS"/>
              <a:cs typeface="Trebuchet MS"/>
            </a:endParaRPr>
          </a:p>
          <a:p>
            <a:pPr marL="523240">
              <a:lnSpc>
                <a:spcPct val="100000"/>
              </a:lnSpc>
              <a:spcBef>
                <a:spcPts val="3750"/>
              </a:spcBef>
            </a:pPr>
            <a:r>
              <a:rPr dirty="0" sz="3500" spc="-20" b="1">
                <a:solidFill>
                  <a:srgbClr val="FFFFFF"/>
                </a:solidFill>
                <a:latin typeface="Trebuchet MS"/>
                <a:cs typeface="Trebuchet MS"/>
              </a:rPr>
              <a:t>Files</a:t>
            </a:r>
            <a:r>
              <a:rPr dirty="0" sz="35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35" b="1">
                <a:solidFill>
                  <a:srgbClr val="FFFFFF"/>
                </a:solidFill>
                <a:latin typeface="Trebuchet MS"/>
                <a:cs typeface="Trebuchet MS"/>
              </a:rPr>
              <a:t>temporarily</a:t>
            </a:r>
            <a:r>
              <a:rPr dirty="0" sz="35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20" b="1">
                <a:solidFill>
                  <a:srgbClr val="FFFFFF"/>
                </a:solidFill>
                <a:latin typeface="Trebuchet MS"/>
                <a:cs typeface="Trebuchet MS"/>
              </a:rPr>
              <a:t>encrypted</a:t>
            </a:r>
            <a:r>
              <a:rPr dirty="0" sz="35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35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cloud.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500">
              <a:latin typeface="Trebuchet MS"/>
              <a:cs typeface="Trebuchet MS"/>
            </a:endParaRPr>
          </a:p>
          <a:p>
            <a:pPr marL="523240" marR="448309">
              <a:lnSpc>
                <a:spcPts val="3979"/>
              </a:lnSpc>
            </a:pP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OTP/Biometric</a:t>
            </a:r>
            <a:r>
              <a:rPr dirty="0" sz="35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Trebuchet MS"/>
                <a:cs typeface="Trebuchet MS"/>
              </a:rPr>
              <a:t>verification</a:t>
            </a:r>
            <a:r>
              <a:rPr dirty="0" sz="35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ensures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05" b="1">
                <a:solidFill>
                  <a:srgbClr val="FFFFFF"/>
                </a:solidFill>
                <a:latin typeface="Trebuchet MS"/>
                <a:cs typeface="Trebuchet MS"/>
              </a:rPr>
              <a:t>access.</a:t>
            </a:r>
            <a:endParaRPr sz="3500">
              <a:latin typeface="Trebuchet MS"/>
              <a:cs typeface="Trebuchet MS"/>
            </a:endParaRPr>
          </a:p>
          <a:p>
            <a:pPr marL="523240" marR="55880">
              <a:lnSpc>
                <a:spcPts val="3979"/>
              </a:lnSpc>
              <a:spcBef>
                <a:spcPts val="3965"/>
              </a:spcBef>
            </a:pP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(Add</a:t>
            </a:r>
            <a:r>
              <a:rPr dirty="0" sz="3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2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3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simple</a:t>
            </a:r>
            <a:r>
              <a:rPr dirty="0" sz="3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14" b="1">
                <a:solidFill>
                  <a:srgbClr val="FFFFFF"/>
                </a:solidFill>
                <a:latin typeface="Trebuchet MS"/>
                <a:cs typeface="Trebuchet MS"/>
              </a:rPr>
              <a:t>diagram</a:t>
            </a:r>
            <a:r>
              <a:rPr dirty="0" sz="3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75" b="1">
                <a:solidFill>
                  <a:srgbClr val="FFFFFF"/>
                </a:solidFill>
                <a:latin typeface="Trebuchet MS"/>
                <a:cs typeface="Trebuchet MS"/>
              </a:rPr>
              <a:t>here</a:t>
            </a:r>
            <a:r>
              <a:rPr dirty="0" sz="35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50" b="1">
                <a:solidFill>
                  <a:srgbClr val="FFFFFF"/>
                </a:solidFill>
                <a:latin typeface="Trebuchet MS"/>
                <a:cs typeface="Trebuchet MS"/>
              </a:rPr>
              <a:t>showing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Sender</a:t>
            </a:r>
            <a:r>
              <a:rPr dirty="0" sz="35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1880" b="1">
                <a:solidFill>
                  <a:srgbClr val="FFFFFF"/>
                </a:solidFill>
                <a:latin typeface="Arial"/>
                <a:cs typeface="Arial"/>
              </a:rPr>
              <a:t>↔</a:t>
            </a:r>
            <a:r>
              <a:rPr dirty="0" sz="1650" spc="4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-45" b="1">
                <a:solidFill>
                  <a:srgbClr val="FFFFFF"/>
                </a:solidFill>
                <a:latin typeface="Trebuchet MS"/>
                <a:cs typeface="Trebuchet MS"/>
              </a:rPr>
              <a:t>Receiver</a:t>
            </a:r>
            <a:r>
              <a:rPr dirty="0" sz="35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via</a:t>
            </a:r>
            <a:r>
              <a:rPr dirty="0" sz="35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LAN</a:t>
            </a:r>
            <a:r>
              <a:rPr dirty="0" sz="35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45" b="1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35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Cloud)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713131" y="3023337"/>
            <a:ext cx="6464300" cy="4566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95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LAN</a:t>
            </a:r>
            <a:r>
              <a:rPr dirty="0" sz="35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85" b="1">
                <a:solidFill>
                  <a:srgbClr val="FFFFFF"/>
                </a:solidFill>
                <a:latin typeface="Trebuchet MS"/>
                <a:cs typeface="Trebuchet MS"/>
              </a:rPr>
              <a:t>Mode</a:t>
            </a:r>
            <a:r>
              <a:rPr dirty="0" sz="35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(Offline)</a:t>
            </a:r>
            <a:endParaRPr sz="3500">
              <a:latin typeface="Trebuchet MS"/>
              <a:cs typeface="Trebuchet MS"/>
            </a:endParaRPr>
          </a:p>
          <a:p>
            <a:pPr marL="1024255" marR="1164590">
              <a:lnSpc>
                <a:spcPts val="3979"/>
              </a:lnSpc>
              <a:spcBef>
                <a:spcPts val="3245"/>
              </a:spcBef>
            </a:pP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Local</a:t>
            </a:r>
            <a:r>
              <a:rPr dirty="0" sz="3500" spc="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0" b="1">
                <a:solidFill>
                  <a:srgbClr val="FFFFFF"/>
                </a:solidFill>
                <a:latin typeface="Trebuchet MS"/>
                <a:cs typeface="Trebuchet MS"/>
              </a:rPr>
              <a:t>router-</a:t>
            </a:r>
            <a:r>
              <a:rPr dirty="0" sz="3500" spc="145" b="1">
                <a:solidFill>
                  <a:srgbClr val="FFFFFF"/>
                </a:solidFill>
                <a:latin typeface="Trebuchet MS"/>
                <a:cs typeface="Trebuchet MS"/>
              </a:rPr>
              <a:t>based </a:t>
            </a:r>
            <a:r>
              <a:rPr dirty="0" sz="3500" spc="-60" b="1">
                <a:solidFill>
                  <a:srgbClr val="FFFFFF"/>
                </a:solidFill>
                <a:latin typeface="Trebuchet MS"/>
                <a:cs typeface="Trebuchet MS"/>
              </a:rPr>
              <a:t>transfer,</a:t>
            </a:r>
            <a:r>
              <a:rPr dirty="0" sz="35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dirty="0" sz="35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0" b="1">
                <a:solidFill>
                  <a:srgbClr val="FFFFFF"/>
                </a:solidFill>
                <a:latin typeface="Trebuchet MS"/>
                <a:cs typeface="Trebuchet MS"/>
              </a:rPr>
              <a:t>internet.</a:t>
            </a:r>
            <a:endParaRPr sz="3500">
              <a:latin typeface="Trebuchet MS"/>
              <a:cs typeface="Trebuchet MS"/>
            </a:endParaRPr>
          </a:p>
          <a:p>
            <a:pPr marL="1024255" marR="1426210">
              <a:lnSpc>
                <a:spcPts val="3979"/>
              </a:lnSpc>
              <a:spcBef>
                <a:spcPts val="3965"/>
              </a:spcBef>
            </a:pPr>
            <a:r>
              <a:rPr dirty="0" sz="3500" spc="-105" b="1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dirty="0" sz="350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r>
              <a:rPr dirty="0" sz="350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95" b="1">
                <a:solidFill>
                  <a:srgbClr val="FFFFFF"/>
                </a:solidFill>
                <a:latin typeface="Trebuchet MS"/>
                <a:cs typeface="Trebuchet MS"/>
              </a:rPr>
              <a:t>speed</a:t>
            </a:r>
            <a:r>
              <a:rPr dirty="0" sz="35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365" b="1">
                <a:solidFill>
                  <a:srgbClr val="FFFFFF"/>
                </a:solidFill>
                <a:latin typeface="Trebuchet MS"/>
                <a:cs typeface="Trebuchet MS"/>
              </a:rPr>
              <a:t>(~1 </a:t>
            </a:r>
            <a:r>
              <a:rPr dirty="0" sz="3500" spc="45" b="1">
                <a:solidFill>
                  <a:srgbClr val="FFFFFF"/>
                </a:solidFill>
                <a:latin typeface="Trebuchet MS"/>
                <a:cs typeface="Trebuchet MS"/>
              </a:rPr>
              <a:t>Gbps).</a:t>
            </a:r>
            <a:endParaRPr sz="3500">
              <a:latin typeface="Trebuchet MS"/>
              <a:cs typeface="Trebuchet MS"/>
            </a:endParaRPr>
          </a:p>
          <a:p>
            <a:pPr marL="1024255">
              <a:lnSpc>
                <a:spcPct val="100000"/>
              </a:lnSpc>
              <a:spcBef>
                <a:spcPts val="3650"/>
              </a:spcBef>
            </a:pPr>
            <a:r>
              <a:rPr dirty="0" sz="3500" spc="-140" b="1">
                <a:solidFill>
                  <a:srgbClr val="FFFFFF"/>
                </a:solidFill>
                <a:latin typeface="Trebuchet MS"/>
                <a:cs typeface="Trebuchet MS"/>
              </a:rPr>
              <a:t>Fully</a:t>
            </a:r>
            <a:r>
              <a:rPr dirty="0" sz="35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private</a:t>
            </a:r>
            <a:r>
              <a:rPr dirty="0" sz="35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80" b="1">
                <a:solidFill>
                  <a:srgbClr val="FFFFFF"/>
                </a:solidFill>
                <a:latin typeface="Trebuchet MS"/>
                <a:cs typeface="Trebuchet MS"/>
              </a:rPr>
              <a:t>(peer-to-</a:t>
            </a:r>
            <a:r>
              <a:rPr dirty="0" sz="3500" spc="-20" b="1">
                <a:solidFill>
                  <a:srgbClr val="FFFFFF"/>
                </a:solidFill>
                <a:latin typeface="Trebuchet MS"/>
                <a:cs typeface="Trebuchet MS"/>
              </a:rPr>
              <a:t>peer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2286" y="2025871"/>
            <a:ext cx="6589364" cy="36956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63049" y="483738"/>
            <a:ext cx="5322570" cy="9810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250"/>
              <a:t>KEY</a:t>
            </a:r>
            <a:r>
              <a:rPr dirty="0" sz="6250" spc="-330"/>
              <a:t> </a:t>
            </a:r>
            <a:r>
              <a:rPr dirty="0" sz="6250" spc="-110"/>
              <a:t>FEATURES</a:t>
            </a:r>
            <a:endParaRPr sz="6250"/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0673" y="2025924"/>
            <a:ext cx="6589364" cy="2733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47196" y="1262313"/>
            <a:ext cx="8229599" cy="4000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059" y="1928115"/>
            <a:ext cx="6977380" cy="35642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4445"/>
              </a:lnSpc>
              <a:spcBef>
                <a:spcPts val="135"/>
              </a:spcBef>
              <a:tabLst>
                <a:tab pos="669925" algn="l"/>
              </a:tabLst>
            </a:pPr>
            <a:r>
              <a:rPr dirty="0" sz="3850" spc="3040">
                <a:solidFill>
                  <a:srgbClr val="FFFFFF"/>
                </a:solidFill>
                <a:latin typeface="Webdings"/>
                <a:cs typeface="Webdings"/>
              </a:rPr>
              <a:t>🔵</a:t>
            </a:r>
            <a:r>
              <a:rPr dirty="0" sz="385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450" spc="-90" b="1">
                <a:solidFill>
                  <a:srgbClr val="FFFFFF"/>
                </a:solidFill>
                <a:latin typeface="Trebuchet MS"/>
                <a:cs typeface="Trebuchet MS"/>
              </a:rPr>
              <a:t>Temporary</a:t>
            </a:r>
            <a:r>
              <a:rPr dirty="0" sz="34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114" b="1">
                <a:solidFill>
                  <a:srgbClr val="FFFFFF"/>
                </a:solidFill>
                <a:latin typeface="Trebuchet MS"/>
                <a:cs typeface="Trebuchet MS"/>
              </a:rPr>
              <a:t>File</a:t>
            </a:r>
            <a:r>
              <a:rPr dirty="0" sz="34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105" b="1">
                <a:solidFill>
                  <a:srgbClr val="FFFFFF"/>
                </a:solidFill>
                <a:latin typeface="Trebuchet MS"/>
                <a:cs typeface="Trebuchet MS"/>
              </a:rPr>
              <a:t>Storage</a:t>
            </a:r>
            <a:endParaRPr sz="3450">
              <a:latin typeface="Trebuchet MS"/>
              <a:cs typeface="Trebuchet MS"/>
            </a:endParaRPr>
          </a:p>
          <a:p>
            <a:pPr marL="889635">
              <a:lnSpc>
                <a:spcPts val="3965"/>
              </a:lnSpc>
            </a:pPr>
            <a:r>
              <a:rPr dirty="0" sz="3450" spc="-125" b="1">
                <a:solidFill>
                  <a:srgbClr val="FFFFFF"/>
                </a:solidFill>
                <a:latin typeface="Trebuchet MS"/>
                <a:cs typeface="Trebuchet MS"/>
              </a:rPr>
              <a:t>+Auto</a:t>
            </a:r>
            <a:r>
              <a:rPr dirty="0" sz="345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10" b="1">
                <a:solidFill>
                  <a:srgbClr val="FFFFFF"/>
                </a:solidFill>
                <a:latin typeface="Trebuchet MS"/>
                <a:cs typeface="Trebuchet MS"/>
              </a:rPr>
              <a:t>Deletion</a:t>
            </a:r>
            <a:endParaRPr sz="3450">
              <a:latin typeface="Trebuchet MS"/>
              <a:cs typeface="Trebuchet MS"/>
            </a:endParaRPr>
          </a:p>
          <a:p>
            <a:pPr marL="889635" marR="2092325" indent="-877569">
              <a:lnSpc>
                <a:spcPts val="3870"/>
              </a:lnSpc>
              <a:spcBef>
                <a:spcPts val="3945"/>
              </a:spcBef>
            </a:pPr>
            <a:r>
              <a:rPr dirty="0" sz="3850" spc="3040">
                <a:solidFill>
                  <a:srgbClr val="FFFFFF"/>
                </a:solidFill>
                <a:latin typeface="Webdings"/>
                <a:cs typeface="Webdings"/>
              </a:rPr>
              <a:t>🔵</a:t>
            </a:r>
            <a:r>
              <a:rPr dirty="0" sz="385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50" spc="85" b="1">
                <a:solidFill>
                  <a:srgbClr val="FFFFFF"/>
                </a:solidFill>
                <a:latin typeface="Trebuchet MS"/>
                <a:cs typeface="Trebuchet MS"/>
              </a:rPr>
              <a:t>Lossless</a:t>
            </a:r>
            <a:r>
              <a:rPr dirty="0" sz="345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120" b="1">
                <a:solidFill>
                  <a:srgbClr val="FFFFFF"/>
                </a:solidFill>
                <a:latin typeface="Trebuchet MS"/>
                <a:cs typeface="Trebuchet MS"/>
              </a:rPr>
              <a:t>File</a:t>
            </a:r>
            <a:r>
              <a:rPr dirty="0" sz="345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100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3450" spc="-50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450" spc="-3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3450" spc="-48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3450" spc="-39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3450" spc="-459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3450" spc="-45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450" spc="-50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450" spc="-5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110" b="1">
                <a:solidFill>
                  <a:srgbClr val="FFFFFF"/>
                </a:solidFill>
                <a:latin typeface="Trebuchet MS"/>
                <a:cs typeface="Trebuchet MS"/>
              </a:rPr>
              <a:t>(No</a:t>
            </a:r>
            <a:r>
              <a:rPr dirty="0" sz="345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10" b="1">
                <a:solidFill>
                  <a:srgbClr val="FFFFFF"/>
                </a:solidFill>
                <a:latin typeface="Trebuchet MS"/>
                <a:cs typeface="Trebuchet MS"/>
              </a:rPr>
              <a:t>Compression)</a:t>
            </a:r>
            <a:endParaRPr sz="3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05"/>
              </a:spcBef>
            </a:pPr>
            <a:r>
              <a:rPr dirty="0" sz="3850" spc="3040">
                <a:solidFill>
                  <a:srgbClr val="FFFFFF"/>
                </a:solidFill>
                <a:latin typeface="Webdings"/>
                <a:cs typeface="Webdings"/>
              </a:rPr>
              <a:t>🔵</a:t>
            </a:r>
            <a:r>
              <a:rPr dirty="0" sz="3850" spc="-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50" spc="114" b="1">
                <a:solidFill>
                  <a:srgbClr val="FFFFFF"/>
                </a:solidFill>
                <a:latin typeface="Trebuchet MS"/>
                <a:cs typeface="Trebuchet MS"/>
              </a:rPr>
              <a:t>Cross-</a:t>
            </a:r>
            <a:r>
              <a:rPr dirty="0" sz="3450" spc="-45" b="1">
                <a:solidFill>
                  <a:srgbClr val="FFFFFF"/>
                </a:solidFill>
                <a:latin typeface="Trebuchet MS"/>
                <a:cs typeface="Trebuchet MS"/>
              </a:rPr>
              <a:t>Platform</a:t>
            </a:r>
            <a:r>
              <a:rPr dirty="0" sz="345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30" b="1">
                <a:solidFill>
                  <a:srgbClr val="FFFFFF"/>
                </a:solidFill>
                <a:latin typeface="Trebuchet MS"/>
                <a:cs typeface="Trebuchet MS"/>
              </a:rPr>
              <a:t>Browser</a:t>
            </a:r>
            <a:r>
              <a:rPr dirty="0" sz="345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50" spc="-425" b="1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17751" y="2071793"/>
            <a:ext cx="6193155" cy="320929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772160" marR="1016000" indent="-760095">
              <a:lnSpc>
                <a:spcPts val="3820"/>
              </a:lnSpc>
              <a:spcBef>
                <a:spcPts val="890"/>
              </a:spcBef>
              <a:tabLst>
                <a:tab pos="663575" algn="l"/>
              </a:tabLst>
            </a:pPr>
            <a:r>
              <a:rPr dirty="0" sz="3850" spc="-385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400" spc="130" b="1">
                <a:solidFill>
                  <a:srgbClr val="FFFFFF"/>
                </a:solidFill>
                <a:latin typeface="Trebuchet MS"/>
                <a:cs typeface="Trebuchet MS"/>
              </a:rPr>
              <a:t>Manual</a:t>
            </a:r>
            <a:r>
              <a:rPr dirty="0" sz="34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35" b="1">
                <a:solidFill>
                  <a:srgbClr val="FFFFFF"/>
                </a:solidFill>
                <a:latin typeface="Trebuchet MS"/>
                <a:cs typeface="Trebuchet MS"/>
              </a:rPr>
              <a:t>Hybrid</a:t>
            </a:r>
            <a:r>
              <a:rPr dirty="0" sz="34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155" b="1">
                <a:solidFill>
                  <a:srgbClr val="FFFFFF"/>
                </a:solidFill>
                <a:latin typeface="Trebuchet MS"/>
                <a:cs typeface="Trebuchet MS"/>
              </a:rPr>
              <a:t>Mode</a:t>
            </a:r>
            <a:r>
              <a:rPr dirty="0" sz="3400" spc="850" b="1">
                <a:solidFill>
                  <a:srgbClr val="FFFFFF"/>
                </a:solidFill>
                <a:latin typeface="Trebuchet MS"/>
                <a:cs typeface="Trebuchet MS"/>
              </a:rPr>
              <a:t>    </a:t>
            </a:r>
            <a:r>
              <a:rPr dirty="0" sz="3400" b="1">
                <a:solidFill>
                  <a:srgbClr val="FFFFFF"/>
                </a:solidFill>
                <a:latin typeface="Trebuchet MS"/>
                <a:cs typeface="Trebuchet MS"/>
              </a:rPr>
              <a:t>Selection</a:t>
            </a:r>
            <a:r>
              <a:rPr dirty="0" sz="34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90" b="1">
                <a:solidFill>
                  <a:srgbClr val="FFFFFF"/>
                </a:solidFill>
                <a:latin typeface="Trebuchet MS"/>
                <a:cs typeface="Trebuchet MS"/>
              </a:rPr>
              <a:t>(LAN</a:t>
            </a:r>
            <a:r>
              <a:rPr dirty="0" sz="34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434" b="1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34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20" b="1">
                <a:solidFill>
                  <a:srgbClr val="FFFFFF"/>
                </a:solidFill>
                <a:latin typeface="Trebuchet MS"/>
                <a:cs typeface="Trebuchet MS"/>
              </a:rPr>
              <a:t>Web)</a:t>
            </a:r>
            <a:endParaRPr sz="3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35"/>
              </a:spcBef>
              <a:tabLst>
                <a:tab pos="3175635" algn="l"/>
              </a:tabLst>
            </a:pPr>
            <a:r>
              <a:rPr dirty="0" sz="3850" spc="296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850" spc="-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45" b="1">
                <a:solidFill>
                  <a:srgbClr val="FFFFFF"/>
                </a:solidFill>
                <a:latin typeface="Trebuchet MS"/>
                <a:cs typeface="Trebuchet MS"/>
              </a:rPr>
              <a:t>OTP</a:t>
            </a:r>
            <a:r>
              <a:rPr dirty="0" sz="34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434" b="1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34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Trebuchet MS"/>
                <a:cs typeface="Trebuchet MS"/>
              </a:rPr>
              <a:t>Token</a:t>
            </a:r>
            <a:r>
              <a:rPr dirty="0" sz="34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3400" spc="-60" b="1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endParaRPr sz="3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3400">
              <a:latin typeface="Trebuchet MS"/>
              <a:cs typeface="Trebuchet MS"/>
            </a:endParaRPr>
          </a:p>
          <a:p>
            <a:pPr marL="179070">
              <a:lnSpc>
                <a:spcPct val="100000"/>
              </a:lnSpc>
            </a:pPr>
            <a:r>
              <a:rPr dirty="0" sz="3800" spc="296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800" spc="-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dirty="0" sz="3400" b="1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dirty="0" sz="34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Trebuchet MS"/>
                <a:cs typeface="Trebuchet MS"/>
              </a:rPr>
              <a:t>Parallel</a:t>
            </a:r>
            <a:r>
              <a:rPr dirty="0" sz="34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97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3400" spc="-484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400" spc="-38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3400" spc="-46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3400" spc="-37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3400" spc="-445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3400" spc="-434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400" spc="-48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754151" y="1714862"/>
            <a:ext cx="11182350" cy="7343775"/>
            <a:chOff x="1754151" y="1714862"/>
            <a:chExt cx="11182350" cy="734377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51" y="1714862"/>
              <a:ext cx="11182350" cy="73437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1035" y="2554581"/>
              <a:ext cx="145424" cy="1454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1035" y="3582249"/>
              <a:ext cx="145424" cy="1454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1035" y="4609918"/>
              <a:ext cx="145424" cy="1454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1035" y="5637586"/>
              <a:ext cx="145424" cy="1454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1035" y="6665254"/>
              <a:ext cx="145424" cy="1454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1035" y="8206757"/>
              <a:ext cx="145424" cy="14542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26598" y="420805"/>
            <a:ext cx="9327515" cy="8890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650" spc="45"/>
              <a:t>UNIQUENESS</a:t>
            </a:r>
            <a:r>
              <a:rPr dirty="0" sz="5650" spc="-270"/>
              <a:t> </a:t>
            </a:r>
            <a:r>
              <a:rPr dirty="0" sz="5650" spc="725"/>
              <a:t>/</a:t>
            </a:r>
            <a:r>
              <a:rPr dirty="0" sz="5650" spc="-265"/>
              <a:t> </a:t>
            </a:r>
            <a:r>
              <a:rPr dirty="0" sz="5650" spc="55"/>
              <a:t>INNOVATION</a:t>
            </a:r>
            <a:endParaRPr sz="5650"/>
          </a:p>
        </p:txBody>
      </p:sp>
      <p:sp>
        <p:nvSpPr>
          <p:cNvPr id="12" name="object 12" descr=""/>
          <p:cNvSpPr txBox="1"/>
          <p:nvPr/>
        </p:nvSpPr>
        <p:spPr>
          <a:xfrm>
            <a:off x="2519171" y="2307359"/>
            <a:ext cx="10352405" cy="6740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65" b="1">
                <a:solidFill>
                  <a:srgbClr val="FFFFFF"/>
                </a:solidFill>
                <a:latin typeface="Trebuchet MS"/>
                <a:cs typeface="Trebuchet MS"/>
              </a:rPr>
              <a:t>Combines</a:t>
            </a:r>
            <a:r>
              <a:rPr dirty="0" sz="3600" spc="-1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LAN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60" b="1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36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60" b="1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55" b="1">
                <a:solidFill>
                  <a:srgbClr val="FFFFFF"/>
                </a:solidFill>
                <a:latin typeface="Trebuchet MS"/>
                <a:cs typeface="Trebuchet MS"/>
              </a:rPr>
              <a:t>sharing</a:t>
            </a:r>
            <a:r>
              <a:rPr dirty="0" sz="36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10" b="1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36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35" b="1">
                <a:solidFill>
                  <a:srgbClr val="FFFFFF"/>
                </a:solidFill>
                <a:latin typeface="Trebuchet MS"/>
                <a:cs typeface="Trebuchet MS"/>
              </a:rPr>
              <a:t>one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system.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75"/>
              </a:spcBef>
            </a:pPr>
            <a:r>
              <a:rPr dirty="0" sz="3600" spc="135" b="1">
                <a:solidFill>
                  <a:srgbClr val="FFFFFF"/>
                </a:solidFill>
                <a:latin typeface="Trebuchet MS"/>
                <a:cs typeface="Trebuchet MS"/>
              </a:rPr>
              <a:t>Manual</a:t>
            </a:r>
            <a:r>
              <a:rPr dirty="0" sz="3600" spc="-1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55" b="1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80" b="1">
                <a:solidFill>
                  <a:srgbClr val="FFFFFF"/>
                </a:solidFill>
                <a:latin typeface="Trebuchet MS"/>
                <a:cs typeface="Trebuchet MS"/>
              </a:rPr>
              <a:t>over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20" b="1">
                <a:solidFill>
                  <a:srgbClr val="FFFFFF"/>
                </a:solidFill>
                <a:latin typeface="Trebuchet MS"/>
                <a:cs typeface="Trebuchet MS"/>
              </a:rPr>
              <a:t>transfer</a:t>
            </a:r>
            <a:r>
              <a:rPr dirty="0" sz="3600" spc="-1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mode.</a:t>
            </a:r>
            <a:endParaRPr sz="3600">
              <a:latin typeface="Trebuchet MS"/>
              <a:cs typeface="Trebuchet MS"/>
            </a:endParaRPr>
          </a:p>
          <a:p>
            <a:pPr marL="12700" marR="5080">
              <a:lnSpc>
                <a:spcPct val="187300"/>
              </a:lnSpc>
            </a:pPr>
            <a:r>
              <a:rPr dirty="0" sz="3600" spc="-180" b="1">
                <a:solidFill>
                  <a:srgbClr val="FFFFFF"/>
                </a:solidFill>
                <a:latin typeface="Trebuchet MS"/>
                <a:cs typeface="Trebuchet MS"/>
              </a:rPr>
              <a:t>Token</a:t>
            </a:r>
            <a:r>
              <a:rPr dirty="0" sz="36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60" b="1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36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65" b="1">
                <a:solidFill>
                  <a:srgbClr val="FFFFFF"/>
                </a:solidFill>
                <a:latin typeface="Trebuchet MS"/>
                <a:cs typeface="Trebuchet MS"/>
              </a:rPr>
              <a:t>OTP</a:t>
            </a:r>
            <a:r>
              <a:rPr dirty="0" sz="36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40" b="1">
                <a:solidFill>
                  <a:srgbClr val="FFFFFF"/>
                </a:solidFill>
                <a:latin typeface="Trebuchet MS"/>
                <a:cs typeface="Trebuchet MS"/>
              </a:rPr>
              <a:t>verification</a:t>
            </a:r>
            <a:r>
              <a:rPr dirty="0" sz="36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10" b="1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36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web-</a:t>
            </a:r>
            <a:r>
              <a:rPr dirty="0" sz="3600" spc="150" b="1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36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interface. </a:t>
            </a:r>
            <a:r>
              <a:rPr dirty="0" sz="3600" spc="-35" b="1">
                <a:solidFill>
                  <a:srgbClr val="FFFFFF"/>
                </a:solidFill>
                <a:latin typeface="Trebuchet MS"/>
                <a:cs typeface="Trebuchet MS"/>
              </a:rPr>
              <a:t>Zero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installation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36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browser</a:t>
            </a:r>
            <a:r>
              <a:rPr dirty="0" sz="36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only.</a:t>
            </a:r>
            <a:endParaRPr sz="3600">
              <a:latin typeface="Trebuchet MS"/>
              <a:cs typeface="Trebuchet MS"/>
            </a:endParaRPr>
          </a:p>
          <a:p>
            <a:pPr marL="12700" marR="2009139">
              <a:lnSpc>
                <a:spcPts val="4050"/>
              </a:lnSpc>
              <a:spcBef>
                <a:spcPts val="4130"/>
              </a:spcBef>
            </a:pPr>
            <a:r>
              <a:rPr dirty="0" sz="3600" spc="-60" b="1">
                <a:solidFill>
                  <a:srgbClr val="FFFFFF"/>
                </a:solidFill>
                <a:latin typeface="Trebuchet MS"/>
                <a:cs typeface="Trebuchet MS"/>
              </a:rPr>
              <a:t>Privacy-</a:t>
            </a:r>
            <a:r>
              <a:rPr dirty="0" sz="3600" spc="-30" b="1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dirty="0" sz="36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85" b="1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r>
              <a:rPr dirty="0" sz="36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36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30" b="1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dirty="0" sz="36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70" b="1">
                <a:solidFill>
                  <a:srgbClr val="FFFFFF"/>
                </a:solidFill>
                <a:latin typeface="Trebuchet MS"/>
                <a:cs typeface="Trebuchet MS"/>
              </a:rPr>
              <a:t>external</a:t>
            </a:r>
            <a:r>
              <a:rPr dirty="0" sz="36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server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dependency</a:t>
            </a:r>
            <a:r>
              <a:rPr dirty="0" sz="360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10" b="1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36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LAN</a:t>
            </a:r>
            <a:r>
              <a:rPr dirty="0" sz="3600" spc="-20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Trebuchet MS"/>
                <a:cs typeface="Trebuchet MS"/>
              </a:rPr>
              <a:t>mode.</a:t>
            </a:r>
            <a:endParaRPr sz="3600">
              <a:latin typeface="Trebuchet MS"/>
              <a:cs typeface="Trebuchet MS"/>
            </a:endParaRPr>
          </a:p>
          <a:p>
            <a:pPr marL="12700" marR="155575">
              <a:lnSpc>
                <a:spcPts val="4050"/>
              </a:lnSpc>
              <a:spcBef>
                <a:spcPts val="4040"/>
              </a:spcBef>
            </a:pPr>
            <a:r>
              <a:rPr dirty="0" sz="3600" spc="-80" b="1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dirty="0" sz="3600" spc="-635" b="1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3600" spc="-75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3600" spc="-7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36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95" b="1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dirty="0" sz="36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70" b="1">
                <a:solidFill>
                  <a:srgbClr val="FFFFFF"/>
                </a:solidFill>
                <a:latin typeface="Trebuchet MS"/>
                <a:cs typeface="Trebuchet MS"/>
              </a:rPr>
              <a:t>add:</a:t>
            </a:r>
            <a:r>
              <a:rPr dirty="0" sz="36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114" b="1">
                <a:solidFill>
                  <a:srgbClr val="FFFFFF"/>
                </a:solidFill>
                <a:latin typeface="Trebuchet MS"/>
                <a:cs typeface="Trebuchet MS"/>
              </a:rPr>
              <a:t>“No</a:t>
            </a:r>
            <a:r>
              <a:rPr dirty="0" sz="36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existing</a:t>
            </a:r>
            <a:r>
              <a:rPr dirty="0" sz="36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public</a:t>
            </a:r>
            <a:r>
              <a:rPr dirty="0" sz="36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site</a:t>
            </a:r>
            <a:r>
              <a:rPr dirty="0" sz="36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b="1">
                <a:solidFill>
                  <a:srgbClr val="FFFFFF"/>
                </a:solidFill>
                <a:latin typeface="Trebuchet MS"/>
                <a:cs typeface="Trebuchet MS"/>
              </a:rPr>
              <a:t>offers</a:t>
            </a:r>
            <a:r>
              <a:rPr dirty="0" sz="36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600" spc="-20" b="1">
                <a:solidFill>
                  <a:srgbClr val="FFFFFF"/>
                </a:solidFill>
                <a:latin typeface="Trebuchet MS"/>
                <a:cs typeface="Trebuchet MS"/>
              </a:rPr>
              <a:t>this </a:t>
            </a:r>
            <a:r>
              <a:rPr dirty="0" sz="3600" spc="-45" b="1">
                <a:solidFill>
                  <a:srgbClr val="FFFFFF"/>
                </a:solidFill>
                <a:latin typeface="Trebuchet MS"/>
                <a:cs typeface="Trebuchet MS"/>
              </a:rPr>
              <a:t>functionality.”)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41" y="1305323"/>
            <a:ext cx="12725399" cy="228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0097" y="785098"/>
            <a:ext cx="9867898" cy="485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6284" y="3086100"/>
            <a:ext cx="19049" cy="41147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29929" y="1509546"/>
            <a:ext cx="28574" cy="77533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61792" y="118364"/>
            <a:ext cx="4765675" cy="8972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700" spc="245"/>
              <a:t>COMPARISON</a:t>
            </a:r>
            <a:endParaRPr sz="5700"/>
          </a:p>
        </p:txBody>
      </p:sp>
      <p:sp>
        <p:nvSpPr>
          <p:cNvPr id="7" name="object 7" descr=""/>
          <p:cNvSpPr txBox="1"/>
          <p:nvPr/>
        </p:nvSpPr>
        <p:spPr>
          <a:xfrm>
            <a:off x="7488516" y="2007281"/>
            <a:ext cx="210375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95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spc="-475" b="1">
                <a:solidFill>
                  <a:srgbClr val="FFFFFF"/>
                </a:solidFill>
                <a:latin typeface="Trebuchet MS"/>
                <a:cs typeface="Trebuchet MS"/>
              </a:rPr>
              <a:t>ShareIt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551910" y="2007281"/>
            <a:ext cx="182880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🔵</a:t>
            </a:r>
            <a:r>
              <a:rPr dirty="0" sz="395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spc="-615" b="1">
                <a:solidFill>
                  <a:srgbClr val="FFFFFF"/>
                </a:solidFill>
                <a:latin typeface="Trebuchet MS"/>
                <a:cs typeface="Trebuchet MS"/>
              </a:rPr>
              <a:t>Cloud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807778" y="2013448"/>
            <a:ext cx="4014470" cy="5861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50" spc="2880">
                <a:solidFill>
                  <a:srgbClr val="FFFFFF"/>
                </a:solidFill>
                <a:latin typeface="Webdings"/>
                <a:cs typeface="Webdings"/>
              </a:rPr>
              <a:t>🔵</a:t>
            </a:r>
            <a:r>
              <a:rPr dirty="0" sz="365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50" b="1">
                <a:solidFill>
                  <a:srgbClr val="FFFFFF"/>
                </a:solidFill>
                <a:latin typeface="Trebuchet MS"/>
                <a:cs typeface="Trebuchet MS"/>
              </a:rPr>
              <a:t>ShieldNet</a:t>
            </a:r>
            <a:r>
              <a:rPr dirty="0" sz="325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50" spc="-500" b="1">
                <a:solidFill>
                  <a:srgbClr val="FFFFFF"/>
                </a:solidFill>
                <a:latin typeface="Trebuchet MS"/>
                <a:cs typeface="Trebuchet MS"/>
              </a:rPr>
              <a:t>(Hybrid)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029570" y="5719412"/>
            <a:ext cx="2487295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215" b="1">
                <a:solidFill>
                  <a:srgbClr val="FFFFFF"/>
                </a:solidFill>
                <a:latin typeface="Trebuchet MS"/>
                <a:cs typeface="Trebuchet MS"/>
              </a:rPr>
              <a:t>May</a:t>
            </a:r>
            <a:r>
              <a:rPr dirty="0" sz="305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50" spc="-10" b="1">
                <a:solidFill>
                  <a:srgbClr val="FFFFFF"/>
                </a:solidFill>
                <a:latin typeface="Trebuchet MS"/>
                <a:cs typeface="Trebuchet MS"/>
              </a:rPr>
              <a:t>Reduced</a:t>
            </a:r>
            <a:endParaRPr sz="305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26606" y="1729476"/>
            <a:ext cx="17861915" cy="8206105"/>
            <a:chOff x="426606" y="1729476"/>
            <a:chExt cx="17861915" cy="8206105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7277" y="1729476"/>
              <a:ext cx="28574" cy="775334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8750" y="1914086"/>
              <a:ext cx="28574" cy="775334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27058" y="2182232"/>
              <a:ext cx="28574" cy="775334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109" y="4344645"/>
              <a:ext cx="17830798" cy="666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606" y="3014585"/>
              <a:ext cx="17830798" cy="6667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509" y="5447293"/>
              <a:ext cx="17678490" cy="6667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909" y="6549939"/>
              <a:ext cx="17526090" cy="6667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8934" y="7787658"/>
              <a:ext cx="17369064" cy="6667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8454" y="9138891"/>
              <a:ext cx="17259545" cy="6667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490133" y="5072833"/>
              <a:ext cx="7313295" cy="138430"/>
            </a:xfrm>
            <a:custGeom>
              <a:avLst/>
              <a:gdLst/>
              <a:ahLst/>
              <a:cxnLst/>
              <a:rect l="l" t="t" r="r" b="b"/>
              <a:pathLst>
                <a:path w="7313295" h="138429">
                  <a:moveTo>
                    <a:pt x="101441" y="138220"/>
                  </a:moveTo>
                  <a:lnTo>
                    <a:pt x="48123" y="135033"/>
                  </a:lnTo>
                  <a:lnTo>
                    <a:pt x="5883" y="121042"/>
                  </a:lnTo>
                  <a:lnTo>
                    <a:pt x="0" y="99544"/>
                  </a:lnTo>
                  <a:lnTo>
                    <a:pt x="4689" y="87864"/>
                  </a:lnTo>
                  <a:lnTo>
                    <a:pt x="351395" y="52308"/>
                  </a:lnTo>
                  <a:lnTo>
                    <a:pt x="406681" y="48761"/>
                  </a:lnTo>
                  <a:lnTo>
                    <a:pt x="462089" y="46284"/>
                  </a:lnTo>
                  <a:lnTo>
                    <a:pt x="762887" y="35905"/>
                  </a:lnTo>
                  <a:lnTo>
                    <a:pt x="863156" y="33204"/>
                  </a:lnTo>
                  <a:lnTo>
                    <a:pt x="913304" y="32177"/>
                  </a:lnTo>
                  <a:lnTo>
                    <a:pt x="1010835" y="31174"/>
                  </a:lnTo>
                  <a:lnTo>
                    <a:pt x="1157180" y="31383"/>
                  </a:lnTo>
                  <a:lnTo>
                    <a:pt x="1392598" y="32732"/>
                  </a:lnTo>
                  <a:lnTo>
                    <a:pt x="1437151" y="33470"/>
                  </a:lnTo>
                  <a:lnTo>
                    <a:pt x="1529205" y="36348"/>
                  </a:lnTo>
                  <a:lnTo>
                    <a:pt x="1821414" y="48028"/>
                  </a:lnTo>
                  <a:lnTo>
                    <a:pt x="1828556" y="48821"/>
                  </a:lnTo>
                  <a:lnTo>
                    <a:pt x="2178678" y="54479"/>
                  </a:lnTo>
                  <a:lnTo>
                    <a:pt x="2276628" y="55509"/>
                  </a:lnTo>
                  <a:lnTo>
                    <a:pt x="2374558" y="55795"/>
                  </a:lnTo>
                  <a:lnTo>
                    <a:pt x="2423845" y="55504"/>
                  </a:lnTo>
                  <a:lnTo>
                    <a:pt x="2522414" y="53957"/>
                  </a:lnTo>
                  <a:lnTo>
                    <a:pt x="2670234" y="49971"/>
                  </a:lnTo>
                  <a:lnTo>
                    <a:pt x="2924827" y="41455"/>
                  </a:lnTo>
                  <a:lnTo>
                    <a:pt x="3191939" y="30116"/>
                  </a:lnTo>
                  <a:lnTo>
                    <a:pt x="3722036" y="4755"/>
                  </a:lnTo>
                  <a:lnTo>
                    <a:pt x="3777032" y="2652"/>
                  </a:lnTo>
                  <a:lnTo>
                    <a:pt x="3831999" y="1129"/>
                  </a:lnTo>
                  <a:lnTo>
                    <a:pt x="3886965" y="230"/>
                  </a:lnTo>
                  <a:lnTo>
                    <a:pt x="3941962" y="0"/>
                  </a:lnTo>
                  <a:lnTo>
                    <a:pt x="4360075" y="1447"/>
                  </a:lnTo>
                  <a:lnTo>
                    <a:pt x="4569128" y="3501"/>
                  </a:lnTo>
                  <a:lnTo>
                    <a:pt x="4672066" y="5340"/>
                  </a:lnTo>
                  <a:lnTo>
                    <a:pt x="4773412" y="8443"/>
                  </a:lnTo>
                  <a:lnTo>
                    <a:pt x="5026745" y="18066"/>
                  </a:lnTo>
                  <a:lnTo>
                    <a:pt x="5128106" y="20923"/>
                  </a:lnTo>
                  <a:lnTo>
                    <a:pt x="5234600" y="22556"/>
                  </a:lnTo>
                  <a:lnTo>
                    <a:pt x="5607400" y="24093"/>
                  </a:lnTo>
                  <a:lnTo>
                    <a:pt x="5748501" y="25475"/>
                  </a:lnTo>
                  <a:lnTo>
                    <a:pt x="5795514" y="25678"/>
                  </a:lnTo>
                  <a:lnTo>
                    <a:pt x="6029898" y="23998"/>
                  </a:lnTo>
                  <a:lnTo>
                    <a:pt x="6907964" y="26585"/>
                  </a:lnTo>
                  <a:lnTo>
                    <a:pt x="7011846" y="27263"/>
                  </a:lnTo>
                  <a:lnTo>
                    <a:pt x="7063655" y="28238"/>
                  </a:lnTo>
                  <a:lnTo>
                    <a:pt x="7115463" y="30195"/>
                  </a:lnTo>
                  <a:lnTo>
                    <a:pt x="7167272" y="32821"/>
                  </a:lnTo>
                  <a:lnTo>
                    <a:pt x="7270889" y="38834"/>
                  </a:lnTo>
                  <a:lnTo>
                    <a:pt x="7312927" y="52625"/>
                  </a:lnTo>
                  <a:lnTo>
                    <a:pt x="7282121" y="73407"/>
                  </a:lnTo>
                  <a:lnTo>
                    <a:pt x="7251027" y="88349"/>
                  </a:lnTo>
                  <a:lnTo>
                    <a:pt x="7218502" y="96960"/>
                  </a:lnTo>
                  <a:lnTo>
                    <a:pt x="7183405" y="98751"/>
                  </a:lnTo>
                  <a:lnTo>
                    <a:pt x="7075260" y="94143"/>
                  </a:lnTo>
                  <a:lnTo>
                    <a:pt x="6967043" y="90732"/>
                  </a:lnTo>
                  <a:lnTo>
                    <a:pt x="6858790" y="88448"/>
                  </a:lnTo>
                  <a:lnTo>
                    <a:pt x="4639971" y="62573"/>
                  </a:lnTo>
                  <a:lnTo>
                    <a:pt x="4386014" y="61077"/>
                  </a:lnTo>
                  <a:lnTo>
                    <a:pt x="4185651" y="61452"/>
                  </a:lnTo>
                  <a:lnTo>
                    <a:pt x="3986251" y="63417"/>
                  </a:lnTo>
                  <a:lnTo>
                    <a:pt x="3836693" y="66016"/>
                  </a:lnTo>
                  <a:lnTo>
                    <a:pt x="3736967" y="68317"/>
                  </a:lnTo>
                  <a:lnTo>
                    <a:pt x="3632880" y="71593"/>
                  </a:lnTo>
                  <a:lnTo>
                    <a:pt x="3476788" y="78125"/>
                  </a:lnTo>
                  <a:lnTo>
                    <a:pt x="3268657" y="87580"/>
                  </a:lnTo>
                  <a:lnTo>
                    <a:pt x="3169447" y="91385"/>
                  </a:lnTo>
                  <a:lnTo>
                    <a:pt x="2980707" y="96739"/>
                  </a:lnTo>
                  <a:lnTo>
                    <a:pt x="2830704" y="101516"/>
                  </a:lnTo>
                  <a:lnTo>
                    <a:pt x="2727858" y="103864"/>
                  </a:lnTo>
                  <a:lnTo>
                    <a:pt x="2625007" y="105442"/>
                  </a:lnTo>
                  <a:lnTo>
                    <a:pt x="2470726" y="106639"/>
                  </a:lnTo>
                  <a:lnTo>
                    <a:pt x="1750748" y="105285"/>
                  </a:lnTo>
                  <a:lnTo>
                    <a:pt x="1400320" y="107945"/>
                  </a:lnTo>
                  <a:lnTo>
                    <a:pt x="1103254" y="112195"/>
                  </a:lnTo>
                  <a:lnTo>
                    <a:pt x="903890" y="116223"/>
                  </a:lnTo>
                  <a:lnTo>
                    <a:pt x="649878" y="123617"/>
                  </a:lnTo>
                  <a:lnTo>
                    <a:pt x="345065" y="133465"/>
                  </a:lnTo>
                  <a:lnTo>
                    <a:pt x="247670" y="135938"/>
                  </a:lnTo>
                  <a:lnTo>
                    <a:pt x="150213" y="137649"/>
                  </a:lnTo>
                  <a:lnTo>
                    <a:pt x="101441" y="138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207690" y="2007281"/>
            <a:ext cx="218503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95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spc="-565" b="1">
                <a:solidFill>
                  <a:srgbClr val="FFFFFF"/>
                </a:solidFill>
                <a:latin typeface="Trebuchet MS"/>
                <a:cs typeface="Trebuchet MS"/>
              </a:rPr>
              <a:t>Feature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20577" y="2007281"/>
            <a:ext cx="254444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95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spc="-475" b="1">
                <a:solidFill>
                  <a:srgbClr val="FFFFFF"/>
                </a:solidFill>
                <a:latin typeface="Trebuchet MS"/>
                <a:cs typeface="Trebuchet MS"/>
              </a:rPr>
              <a:t>Bluetooth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13584" y="3118913"/>
            <a:ext cx="1573530" cy="102298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3335" marR="5080" indent="-1270">
              <a:lnSpc>
                <a:spcPts val="3800"/>
              </a:lnSpc>
              <a:spcBef>
                <a:spcPts val="440"/>
              </a:spcBef>
            </a:pPr>
            <a:r>
              <a:rPr dirty="0" sz="3350" spc="-90" b="1">
                <a:solidFill>
                  <a:srgbClr val="FFFFFF"/>
                </a:solidFill>
                <a:latin typeface="Trebuchet MS"/>
                <a:cs typeface="Trebuchet MS"/>
              </a:rPr>
              <a:t>Internet </a:t>
            </a:r>
            <a:r>
              <a:rPr dirty="0" sz="3350" spc="-10" b="1">
                <a:solidFill>
                  <a:srgbClr val="FFFFFF"/>
                </a:solidFill>
                <a:latin typeface="Trebuchet MS"/>
                <a:cs typeface="Trebuchet MS"/>
              </a:rPr>
              <a:t>Needed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571771" y="3290669"/>
            <a:ext cx="47498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84">
                <a:solidFill>
                  <a:srgbClr val="FFFFFF"/>
                </a:solidFill>
                <a:latin typeface="SimSun-ExtB"/>
                <a:cs typeface="SimSun-ExtB"/>
              </a:rPr>
              <a:t>❌</a:t>
            </a:r>
            <a:endParaRPr sz="3950">
              <a:latin typeface="SimSun-ExtB"/>
              <a:cs typeface="SimSun-ExtB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395870" y="3372248"/>
            <a:ext cx="47498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8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endParaRPr sz="3950">
              <a:latin typeface="SimSun-ExtB"/>
              <a:cs typeface="SimSun-ExtB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593707" y="3372248"/>
            <a:ext cx="47498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8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endParaRPr sz="3950">
              <a:latin typeface="SimSun-ExtB"/>
              <a:cs typeface="SimSun-ExtB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078557" y="3346855"/>
            <a:ext cx="1836420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Optional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612297" y="4626525"/>
            <a:ext cx="1376045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120" b="1">
                <a:solidFill>
                  <a:srgbClr val="FFFFFF"/>
                </a:solidFill>
                <a:latin typeface="Trebuchet MS"/>
                <a:cs typeface="Trebuchet MS"/>
              </a:rPr>
              <a:t>Speed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038014" y="4514145"/>
            <a:ext cx="160274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⚡</a:t>
            </a:r>
            <a:r>
              <a:rPr dirty="0" sz="3950" spc="-10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80" b="1">
                <a:solidFill>
                  <a:srgbClr val="FFFFFF"/>
                </a:solidFill>
                <a:latin typeface="Trebuchet MS"/>
                <a:cs typeface="Trebuchet MS"/>
              </a:rPr>
              <a:t>Slow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660003" y="4514145"/>
            <a:ext cx="228917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⚡</a:t>
            </a:r>
            <a:r>
              <a:rPr dirty="0" sz="3950" spc="-10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75" b="1">
                <a:solidFill>
                  <a:srgbClr val="FFFFFF"/>
                </a:solidFill>
                <a:latin typeface="Trebuchet MS"/>
                <a:cs typeface="Trebuchet MS"/>
              </a:rPr>
              <a:t>Medium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995328" y="4514145"/>
            <a:ext cx="228917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⚡</a:t>
            </a:r>
            <a:r>
              <a:rPr dirty="0" sz="3950" spc="-10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75" b="1">
                <a:solidFill>
                  <a:srgbClr val="FFFFFF"/>
                </a:solidFill>
                <a:latin typeface="Trebuchet MS"/>
                <a:cs typeface="Trebuchet MS"/>
              </a:rPr>
              <a:t>Medium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4185565" y="4514145"/>
            <a:ext cx="249999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🚀</a:t>
            </a:r>
            <a:r>
              <a:rPr dirty="0" sz="395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spc="-105" b="1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dirty="0" sz="35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855" b="1">
                <a:solidFill>
                  <a:srgbClr val="FFFFFF"/>
                </a:solidFill>
                <a:latin typeface="Trebuchet MS"/>
                <a:cs typeface="Trebuchet MS"/>
              </a:rPr>
              <a:t>Fast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612297" y="5873939"/>
            <a:ext cx="1528445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263753" y="5849574"/>
            <a:ext cx="1840864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Reduced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167547" y="5786951"/>
            <a:ext cx="1840864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Reduced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4428127" y="5695401"/>
            <a:ext cx="228092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40" b="1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05736" y="7124606"/>
            <a:ext cx="1741805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397162" y="7214541"/>
            <a:ext cx="855980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20" b="1">
                <a:solidFill>
                  <a:srgbClr val="FFFFFF"/>
                </a:solidFill>
                <a:latin typeface="Trebuchet MS"/>
                <a:cs typeface="Trebuchet MS"/>
              </a:rPr>
              <a:t>Low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280359" y="7151918"/>
            <a:ext cx="1727200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75" b="1">
                <a:solidFill>
                  <a:srgbClr val="FFFFFF"/>
                </a:solidFill>
                <a:latin typeface="Trebuchet MS"/>
                <a:cs typeface="Trebuchet MS"/>
              </a:rPr>
              <a:t>Medium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1482256" y="7081191"/>
            <a:ext cx="1727200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75" b="1">
                <a:solidFill>
                  <a:srgbClr val="FFFFFF"/>
                </a:solidFill>
                <a:latin typeface="Trebuchet MS"/>
                <a:cs typeface="Trebuchet MS"/>
              </a:rPr>
              <a:t>Medium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4427978" y="7095732"/>
            <a:ext cx="153352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🔒</a:t>
            </a:r>
            <a:r>
              <a:rPr dirty="0" sz="395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500" spc="-865" b="1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390993" y="8375274"/>
            <a:ext cx="2193290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dirty="0" sz="3500" spc="-20" b="1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563959" y="8319089"/>
            <a:ext cx="474980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84">
                <a:solidFill>
                  <a:srgbClr val="FFFFFF"/>
                </a:solidFill>
                <a:latin typeface="SimSun-ExtB"/>
                <a:cs typeface="SimSun-ExtB"/>
              </a:rPr>
              <a:t>❌</a:t>
            </a:r>
            <a:endParaRPr sz="3950">
              <a:latin typeface="SimSun-ExtB"/>
              <a:cs typeface="SimSun-ExtB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167547" y="8297810"/>
            <a:ext cx="1567180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50" b="1">
                <a:solidFill>
                  <a:srgbClr val="FFFFFF"/>
                </a:solidFill>
                <a:latin typeface="Trebuchet MS"/>
                <a:cs typeface="Trebuchet MS"/>
              </a:rPr>
              <a:t>Limited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1482256" y="8227083"/>
            <a:ext cx="1567180" cy="565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500" spc="-50" b="1">
                <a:solidFill>
                  <a:srgbClr val="FFFFFF"/>
                </a:solidFill>
                <a:latin typeface="Trebuchet MS"/>
                <a:cs typeface="Trebuchet MS"/>
              </a:rPr>
              <a:t>Limited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4627733" y="8241624"/>
            <a:ext cx="1296035" cy="632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-395" b="1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3500" spc="15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500" spc="16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9272" y="0"/>
            <a:ext cx="7896224" cy="101293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418" rIns="0" bIns="0" rtlCol="0" vert="horz">
            <a:spAutoFit/>
          </a:bodyPr>
          <a:lstStyle/>
          <a:p>
            <a:pPr marL="1559560">
              <a:lnSpc>
                <a:spcPct val="100000"/>
              </a:lnSpc>
              <a:spcBef>
                <a:spcPts val="114"/>
              </a:spcBef>
            </a:pPr>
            <a:r>
              <a:rPr dirty="0" sz="6950" spc="-165"/>
              <a:t>BENEFITS</a:t>
            </a:r>
            <a:endParaRPr sz="6950"/>
          </a:p>
        </p:txBody>
      </p:sp>
      <p:sp>
        <p:nvSpPr>
          <p:cNvPr id="5" name="object 5" descr=""/>
          <p:cNvSpPr txBox="1"/>
          <p:nvPr/>
        </p:nvSpPr>
        <p:spPr>
          <a:xfrm>
            <a:off x="2563446" y="2344905"/>
            <a:ext cx="7084695" cy="66903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6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-105" b="1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dirty="0" sz="35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Fast</a:t>
            </a:r>
            <a:r>
              <a:rPr dirty="0" sz="35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LAN</a:t>
            </a:r>
            <a:r>
              <a:rPr dirty="0" sz="35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45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3500" spc="4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500" spc="5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3500" spc="4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3500" spc="5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3500" spc="45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3500" spc="5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500" spc="5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1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8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dirty="0" sz="35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95" b="1">
                <a:solidFill>
                  <a:srgbClr val="FFFFFF"/>
                </a:solidFill>
                <a:latin typeface="Trebuchet MS"/>
                <a:cs typeface="Trebuchet MS"/>
              </a:rPr>
              <a:t>Internet</a:t>
            </a:r>
            <a:r>
              <a:rPr dirty="0" sz="35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Dependency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1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8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50" b="1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dirty="0" sz="35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via</a:t>
            </a:r>
            <a:r>
              <a:rPr dirty="0" sz="35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Trebuchet MS"/>
                <a:cs typeface="Trebuchet MS"/>
              </a:rPr>
              <a:t>OTP</a:t>
            </a:r>
            <a:r>
              <a:rPr dirty="0" sz="35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459" b="1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35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Tokenc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1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6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Multi-User</a:t>
            </a:r>
            <a:r>
              <a:rPr dirty="0" sz="35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Parallel</a:t>
            </a:r>
            <a:r>
              <a:rPr dirty="0" sz="350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25" b="1">
                <a:solidFill>
                  <a:srgbClr val="FFFFFF"/>
                </a:solidFill>
                <a:latin typeface="Trebuchet MS"/>
                <a:cs typeface="Trebuchet MS"/>
              </a:rPr>
              <a:t>Sessions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1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Preserves</a:t>
            </a:r>
            <a:r>
              <a:rPr dirty="0" sz="35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10" b="1">
                <a:solidFill>
                  <a:srgbClr val="FFFFFF"/>
                </a:solidFill>
                <a:latin typeface="Trebuchet MS"/>
                <a:cs typeface="Trebuchet MS"/>
              </a:rPr>
              <a:t>File</a:t>
            </a:r>
            <a:r>
              <a:rPr dirty="0" sz="35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1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6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Works</a:t>
            </a:r>
            <a:r>
              <a:rPr dirty="0" sz="35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35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35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Devices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10"/>
              </a:spcBef>
            </a:pPr>
            <a:r>
              <a:rPr dirty="0" sz="3950" spc="-434">
                <a:solidFill>
                  <a:srgbClr val="FFFFFF"/>
                </a:solidFill>
                <a:latin typeface="SimSun-ExtB"/>
                <a:cs typeface="SimSun-ExtB"/>
              </a:rPr>
              <a:t>✅</a:t>
            </a:r>
            <a:r>
              <a:rPr dirty="0" sz="3950" spc="-1095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Trebuchet MS"/>
                <a:cs typeface="Trebuchet MS"/>
              </a:rPr>
              <a:t>Auto-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Deletes</a:t>
            </a:r>
            <a:r>
              <a:rPr dirty="0" sz="3500" spc="-1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After</a:t>
            </a:r>
            <a:r>
              <a:rPr dirty="0" sz="35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14" b="1">
                <a:solidFill>
                  <a:srgbClr val="FFFFFF"/>
                </a:solidFill>
                <a:latin typeface="Trebuchet MS"/>
                <a:cs typeface="Trebuchet MS"/>
              </a:rPr>
              <a:t>Session</a:t>
            </a:r>
            <a:r>
              <a:rPr dirty="0" sz="350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Trebuchet MS"/>
                <a:cs typeface="Trebuchet MS"/>
              </a:rPr>
              <a:t>end</a:t>
            </a:r>
            <a:endParaRPr sz="35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571" y="2037808"/>
            <a:ext cx="9305924" cy="4000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1089005" cy="10287000"/>
            <a:chOff x="0" y="0"/>
            <a:chExt cx="1108900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669" y="0"/>
              <a:ext cx="10487023" cy="102869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007467"/>
              <a:ext cx="9140534" cy="4000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0847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30"/>
              </a:spcBef>
            </a:pPr>
            <a:r>
              <a:rPr dirty="0" sz="3900" spc="-200"/>
              <a:t>FUTURE</a:t>
            </a:r>
            <a:r>
              <a:rPr dirty="0" sz="3900" spc="-155"/>
              <a:t> </a:t>
            </a:r>
            <a:r>
              <a:rPr dirty="0" sz="3900" spc="50"/>
              <a:t>ENHANCEMENTS</a:t>
            </a:r>
            <a:endParaRPr sz="3900"/>
          </a:p>
        </p:txBody>
      </p:sp>
      <p:sp>
        <p:nvSpPr>
          <p:cNvPr id="7" name="object 7" descr=""/>
          <p:cNvSpPr txBox="1"/>
          <p:nvPr/>
        </p:nvSpPr>
        <p:spPr>
          <a:xfrm>
            <a:off x="1097273" y="2418478"/>
            <a:ext cx="6882130" cy="613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5480" algn="l"/>
              </a:tabLst>
            </a:pPr>
            <a:r>
              <a:rPr dirty="0" sz="3850" spc="300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85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400" spc="20" b="1">
                <a:solidFill>
                  <a:srgbClr val="FFFFFF"/>
                </a:solidFill>
                <a:latin typeface="Trebuchet MS"/>
                <a:cs typeface="Trebuchet MS"/>
              </a:rPr>
              <a:t>AI-</a:t>
            </a:r>
            <a:r>
              <a:rPr dirty="0" sz="3400" spc="150" b="1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34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15" b="1">
                <a:solidFill>
                  <a:srgbClr val="FFFFFF"/>
                </a:solidFill>
                <a:latin typeface="Trebuchet MS"/>
                <a:cs typeface="Trebuchet MS"/>
              </a:rPr>
              <a:t>Auto</a:t>
            </a:r>
            <a:r>
              <a:rPr dirty="0" sz="34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180" b="1">
                <a:solidFill>
                  <a:srgbClr val="FFFFFF"/>
                </a:solidFill>
                <a:latin typeface="Trebuchet MS"/>
                <a:cs typeface="Trebuchet MS"/>
              </a:rPr>
              <a:t>Mode</a:t>
            </a:r>
            <a:r>
              <a:rPr dirty="0" sz="34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45" b="1">
                <a:solidFill>
                  <a:srgbClr val="FFFFFF"/>
                </a:solidFill>
                <a:latin typeface="Trebuchet MS"/>
                <a:cs typeface="Trebuchet MS"/>
              </a:rPr>
              <a:t>Detection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99790" y="3234590"/>
            <a:ext cx="474980" cy="1587500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3950" spc="-36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endParaRPr sz="3950">
              <a:latin typeface="Webdings"/>
              <a:cs typeface="Webding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3950" spc="-36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endParaRPr sz="3950">
              <a:latin typeface="Webdings"/>
              <a:cs typeface="Webding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43784" y="3170551"/>
            <a:ext cx="6188710" cy="1656080"/>
          </a:xfrm>
          <a:prstGeom prst="rect">
            <a:avLst/>
          </a:prstGeom>
        </p:spPr>
        <p:txBody>
          <a:bodyPr wrap="square" lIns="0" tIns="29591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2330"/>
              </a:spcBef>
            </a:pPr>
            <a:r>
              <a:rPr dirty="0" sz="3400" spc="95" b="1">
                <a:solidFill>
                  <a:srgbClr val="FFFFFF"/>
                </a:solidFill>
                <a:latin typeface="Trebuchet MS"/>
                <a:cs typeface="Trebuchet MS"/>
              </a:rPr>
              <a:t>Mobile</a:t>
            </a:r>
            <a:r>
              <a:rPr dirty="0" sz="34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140" b="1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r>
              <a:rPr dirty="0" sz="34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400" spc="-10" b="1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endParaRPr sz="3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dirty="0" sz="3500" spc="-509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500" spc="-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3500" spc="-5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3500" spc="-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500" spc="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b="1">
                <a:solidFill>
                  <a:srgbClr val="FFFFFF"/>
                </a:solidFill>
                <a:latin typeface="Trebuchet MS"/>
                <a:cs typeface="Trebuchet MS"/>
              </a:rPr>
              <a:t>Analytics</a:t>
            </a:r>
            <a:r>
              <a:rPr dirty="0" sz="3500" spc="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75" b="1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99790" y="4738202"/>
            <a:ext cx="7693659" cy="1804670"/>
          </a:xfrm>
          <a:prstGeom prst="rect">
            <a:avLst/>
          </a:prstGeom>
        </p:spPr>
        <p:txBody>
          <a:bodyPr wrap="square" lIns="0" tIns="299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5"/>
              </a:spcBef>
              <a:tabLst>
                <a:tab pos="727710" algn="l"/>
              </a:tabLst>
            </a:pPr>
            <a:r>
              <a:rPr dirty="0" baseline="-3516" sz="5925" spc="468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baseline="-3516" sz="592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500" spc="-25" b="1">
                <a:solidFill>
                  <a:srgbClr val="FFFFFF"/>
                </a:solidFill>
                <a:latin typeface="Trebuchet MS"/>
                <a:cs typeface="Trebuchet MS"/>
              </a:rPr>
              <a:t>Resume-</a:t>
            </a:r>
            <a:r>
              <a:rPr dirty="0" sz="3500" spc="-60" b="1">
                <a:solidFill>
                  <a:srgbClr val="FFFFFF"/>
                </a:solidFill>
                <a:latin typeface="Trebuchet MS"/>
                <a:cs typeface="Trebuchet MS"/>
              </a:rPr>
              <a:t>on-Failure</a:t>
            </a:r>
            <a:r>
              <a:rPr dirty="0" sz="35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50" b="1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35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60" b="1">
                <a:solidFill>
                  <a:srgbClr val="FFFFFF"/>
                </a:solidFill>
                <a:latin typeface="Trebuchet MS"/>
                <a:cs typeface="Trebuchet MS"/>
              </a:rPr>
              <a:t>Large</a:t>
            </a:r>
            <a:r>
              <a:rPr dirty="0" sz="35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35" b="1">
                <a:solidFill>
                  <a:srgbClr val="FFFFFF"/>
                </a:solidFill>
                <a:latin typeface="Trebuchet MS"/>
                <a:cs typeface="Trebuchet MS"/>
              </a:rPr>
              <a:t>Files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65"/>
              </a:spcBef>
              <a:tabLst>
                <a:tab pos="727710" algn="l"/>
              </a:tabLst>
            </a:pPr>
            <a:r>
              <a:rPr dirty="0" sz="3950" spc="312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dirty="0" sz="395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500" spc="-45" b="1">
                <a:solidFill>
                  <a:srgbClr val="FFFFFF"/>
                </a:solidFill>
                <a:latin typeface="Trebuchet MS"/>
                <a:cs typeface="Trebuchet MS"/>
              </a:rPr>
              <a:t>Encrypted</a:t>
            </a:r>
            <a:r>
              <a:rPr dirty="0" sz="35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120" b="1">
                <a:solidFill>
                  <a:srgbClr val="FFFFFF"/>
                </a:solidFill>
                <a:latin typeface="Trebuchet MS"/>
                <a:cs typeface="Trebuchet MS"/>
              </a:rPr>
              <a:t>Chat</a:t>
            </a:r>
            <a:r>
              <a:rPr dirty="0" sz="35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-10" b="1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2574905" cy="8975725"/>
            <a:chOff x="0" y="0"/>
            <a:chExt cx="12574905" cy="897572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8900" y="0"/>
              <a:ext cx="11095694" cy="89751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73167"/>
              <a:ext cx="9591568" cy="4000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6009" rIns="0" bIns="0" rtlCol="0" vert="horz">
            <a:spAutoFit/>
          </a:bodyPr>
          <a:lstStyle/>
          <a:p>
            <a:pPr marL="1487170">
              <a:lnSpc>
                <a:spcPct val="100000"/>
              </a:lnSpc>
              <a:spcBef>
                <a:spcPts val="90"/>
              </a:spcBef>
            </a:pPr>
            <a:r>
              <a:rPr dirty="0" spc="170"/>
              <a:t>CONCLUSION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1936031" y="2964160"/>
            <a:ext cx="149860" cy="4937125"/>
            <a:chOff x="1936031" y="2964160"/>
            <a:chExt cx="149860" cy="4937125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6031" y="2964160"/>
              <a:ext cx="149606" cy="14960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6031" y="4559963"/>
              <a:ext cx="149606" cy="14960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6031" y="6155766"/>
              <a:ext cx="149606" cy="14960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36031" y="7751568"/>
              <a:ext cx="149606" cy="149606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12700" marR="424815">
              <a:lnSpc>
                <a:spcPts val="4190"/>
              </a:lnSpc>
              <a:spcBef>
                <a:spcPts val="475"/>
              </a:spcBef>
            </a:pPr>
            <a:r>
              <a:rPr dirty="0"/>
              <a:t>ShieldNet</a:t>
            </a:r>
            <a:r>
              <a:rPr dirty="0" spc="-125"/>
              <a:t> </a:t>
            </a:r>
            <a:r>
              <a:rPr dirty="0" spc="85"/>
              <a:t>merges</a:t>
            </a:r>
            <a:r>
              <a:rPr dirty="0" spc="-125"/>
              <a:t> </a:t>
            </a:r>
            <a:r>
              <a:rPr dirty="0"/>
              <a:t>speed,</a:t>
            </a:r>
            <a:r>
              <a:rPr dirty="0" spc="-125"/>
              <a:t> </a:t>
            </a:r>
            <a:r>
              <a:rPr dirty="0" spc="-75"/>
              <a:t>security,</a:t>
            </a:r>
            <a:r>
              <a:rPr dirty="0" spc="-120"/>
              <a:t> </a:t>
            </a:r>
            <a:r>
              <a:rPr dirty="0" spc="75"/>
              <a:t>and </a:t>
            </a:r>
            <a:r>
              <a:rPr dirty="0" spc="-20"/>
              <a:t>convenience</a:t>
            </a:r>
            <a:r>
              <a:rPr dirty="0" spc="-240"/>
              <a:t> </a:t>
            </a:r>
            <a:r>
              <a:rPr dirty="0" spc="-85"/>
              <a:t>into</a:t>
            </a:r>
            <a:r>
              <a:rPr dirty="0" spc="-195"/>
              <a:t> </a:t>
            </a:r>
            <a:r>
              <a:rPr dirty="0" spc="-10"/>
              <a:t>one</a:t>
            </a:r>
            <a:r>
              <a:rPr dirty="0" spc="-215"/>
              <a:t> </a:t>
            </a:r>
            <a:r>
              <a:rPr dirty="0" spc="-30"/>
              <a:t>unified</a:t>
            </a:r>
            <a:r>
              <a:rPr dirty="0" spc="-215"/>
              <a:t> </a:t>
            </a:r>
            <a:r>
              <a:rPr dirty="0" spc="-10"/>
              <a:t>system.</a:t>
            </a:r>
          </a:p>
          <a:p>
            <a:pPr marL="12700" marR="5080">
              <a:lnSpc>
                <a:spcPts val="4190"/>
              </a:lnSpc>
              <a:spcBef>
                <a:spcPts val="4185"/>
              </a:spcBef>
            </a:pPr>
            <a:r>
              <a:rPr dirty="0" spc="60"/>
              <a:t>Offers</a:t>
            </a:r>
            <a:r>
              <a:rPr dirty="0" spc="-155"/>
              <a:t> </a:t>
            </a:r>
            <a:r>
              <a:rPr dirty="0" spc="-55"/>
              <a:t>LAN-level</a:t>
            </a:r>
            <a:r>
              <a:rPr dirty="0" spc="-150"/>
              <a:t> </a:t>
            </a:r>
            <a:r>
              <a:rPr dirty="0" spc="105"/>
              <a:t>speed</a:t>
            </a:r>
            <a:r>
              <a:rPr dirty="0" spc="-150"/>
              <a:t> </a:t>
            </a:r>
            <a:r>
              <a:rPr dirty="0" spc="-545"/>
              <a:t>+</a:t>
            </a:r>
            <a:r>
              <a:rPr dirty="0" spc="-150"/>
              <a:t> </a:t>
            </a:r>
            <a:r>
              <a:rPr dirty="0"/>
              <a:t>cloud</a:t>
            </a:r>
            <a:r>
              <a:rPr dirty="0" spc="-150"/>
              <a:t> </a:t>
            </a:r>
            <a:r>
              <a:rPr dirty="0" spc="-40"/>
              <a:t>flexibility </a:t>
            </a:r>
            <a:r>
              <a:rPr dirty="0" spc="-90"/>
              <a:t>with</a:t>
            </a:r>
            <a:r>
              <a:rPr dirty="0" spc="-165"/>
              <a:t> </a:t>
            </a:r>
            <a:r>
              <a:rPr dirty="0" spc="-30"/>
              <a:t>end-</a:t>
            </a:r>
            <a:r>
              <a:rPr dirty="0" spc="-85"/>
              <a:t>to-</a:t>
            </a:r>
            <a:r>
              <a:rPr dirty="0"/>
              <a:t>end</a:t>
            </a:r>
            <a:r>
              <a:rPr dirty="0" spc="-165"/>
              <a:t> </a:t>
            </a:r>
            <a:r>
              <a:rPr dirty="0" spc="-10"/>
              <a:t>protection.</a:t>
            </a:r>
          </a:p>
          <a:p>
            <a:pPr marL="12700" marR="297180">
              <a:lnSpc>
                <a:spcPts val="4190"/>
              </a:lnSpc>
              <a:spcBef>
                <a:spcPts val="4190"/>
              </a:spcBef>
            </a:pPr>
            <a:r>
              <a:rPr dirty="0"/>
              <a:t>Demonstrates</a:t>
            </a:r>
            <a:r>
              <a:rPr dirty="0" spc="-90"/>
              <a:t> </a:t>
            </a:r>
            <a:r>
              <a:rPr dirty="0" spc="-45"/>
              <a:t>innovation</a:t>
            </a:r>
            <a:r>
              <a:rPr dirty="0" spc="-85"/>
              <a:t> </a:t>
            </a:r>
            <a:r>
              <a:rPr dirty="0" spc="-105"/>
              <a:t>in</a:t>
            </a:r>
            <a:r>
              <a:rPr dirty="0" spc="-90"/>
              <a:t> </a:t>
            </a:r>
            <a:r>
              <a:rPr dirty="0"/>
              <a:t>web-</a:t>
            </a:r>
            <a:r>
              <a:rPr dirty="0" spc="160"/>
              <a:t>based </a:t>
            </a:r>
            <a:r>
              <a:rPr dirty="0" spc="-30"/>
              <a:t>hybrid</a:t>
            </a:r>
            <a:r>
              <a:rPr dirty="0" spc="-235"/>
              <a:t> </a:t>
            </a:r>
            <a:r>
              <a:rPr dirty="0" spc="-25"/>
              <a:t>file</a:t>
            </a:r>
            <a:r>
              <a:rPr dirty="0" spc="-229"/>
              <a:t> </a:t>
            </a:r>
            <a:r>
              <a:rPr dirty="0"/>
              <a:t>transfer</a:t>
            </a:r>
            <a:r>
              <a:rPr dirty="0" spc="-235"/>
              <a:t> </a:t>
            </a:r>
            <a:r>
              <a:rPr dirty="0" spc="-10"/>
              <a:t>technology.</a:t>
            </a:r>
          </a:p>
          <a:p>
            <a:pPr marL="12700" marR="546100">
              <a:lnSpc>
                <a:spcPts val="4190"/>
              </a:lnSpc>
              <a:spcBef>
                <a:spcPts val="4184"/>
              </a:spcBef>
            </a:pPr>
            <a:r>
              <a:rPr dirty="0" spc="210"/>
              <a:t>A</a:t>
            </a:r>
            <a:r>
              <a:rPr dirty="0" spc="-130"/>
              <a:t> </a:t>
            </a:r>
            <a:r>
              <a:rPr dirty="0" spc="60"/>
              <a:t>step</a:t>
            </a:r>
            <a:r>
              <a:rPr dirty="0" spc="-125"/>
              <a:t> </a:t>
            </a:r>
            <a:r>
              <a:rPr dirty="0"/>
              <a:t>toward</a:t>
            </a:r>
            <a:r>
              <a:rPr dirty="0" spc="-130"/>
              <a:t> </a:t>
            </a:r>
            <a:r>
              <a:rPr dirty="0"/>
              <a:t>privacy-</a:t>
            </a:r>
            <a:r>
              <a:rPr dirty="0" spc="65"/>
              <a:t>focused</a:t>
            </a:r>
            <a:r>
              <a:rPr dirty="0" spc="-125"/>
              <a:t> </a:t>
            </a:r>
            <a:r>
              <a:rPr dirty="0" spc="60"/>
              <a:t>digital </a:t>
            </a:r>
            <a:r>
              <a:rPr dirty="0" spc="-10"/>
              <a:t>communication.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7289" y="3481633"/>
            <a:ext cx="7273290" cy="16065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350" spc="-95"/>
              <a:t>THANK</a:t>
            </a:r>
            <a:r>
              <a:rPr dirty="0" sz="10350" spc="-675"/>
              <a:t> </a:t>
            </a:r>
            <a:r>
              <a:rPr dirty="0" sz="10350" spc="285"/>
              <a:t>YOU</a:t>
            </a:r>
            <a:endParaRPr sz="10350"/>
          </a:p>
        </p:txBody>
      </p:sp>
      <p:grpSp>
        <p:nvGrpSpPr>
          <p:cNvPr id="3" name="object 3" descr=""/>
          <p:cNvGrpSpPr/>
          <p:nvPr/>
        </p:nvGrpSpPr>
        <p:grpSpPr>
          <a:xfrm>
            <a:off x="3512718" y="5036010"/>
            <a:ext cx="10925810" cy="524510"/>
            <a:chOff x="3512718" y="5036010"/>
            <a:chExt cx="10925810" cy="5245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2718" y="5036010"/>
              <a:ext cx="10591799" cy="1047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6486" y="5036034"/>
              <a:ext cx="10591799" cy="523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Usha Devi</dc:creator>
  <cp:keywords>DAG32oyRYts,BAGv3WmN9bQ,0</cp:keywords>
  <dc:title>ShieldNet</dc:title>
  <dcterms:created xsi:type="dcterms:W3CDTF">2025-11-06T08:00:46Z</dcterms:created>
  <dcterms:modified xsi:type="dcterms:W3CDTF">2025-11-06T08:00:46Z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2025-11-06T00:00:00Z</vt:filetime>
  </property>
  <property fmtid="{D5CDD505-2E9C-101B-9397-08002B2CF9AE}" pid="5" name="Producer">
    <vt:lpwstr>Canva</vt:lpwstr>
  </property>
</Properties>
</file>